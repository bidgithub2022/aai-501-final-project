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embeddedFontLst>
    <p:embeddedFont>
      <p:font typeface="Lexend SemiBold"/>
      <p:regular r:id="rId20"/>
      <p:bold r:id="rId21"/>
    </p:embeddedFont>
    <p:embeddedFont>
      <p:font typeface="Lexend"/>
      <p:regular r:id="rId22"/>
      <p:bold r:id="rId23"/>
    </p:embeddedFont>
    <p:embeddedFont>
      <p:font typeface="Roboto Mono"/>
      <p:regular r:id="rId24"/>
      <p:bold r:id="rId25"/>
      <p:italic r:id="rId26"/>
      <p:boldItalic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9N2OUs/pS4AO5GKBuozsW3f3h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exendSemiBold-regular.fntdata"/><Relationship Id="rId22" Type="http://schemas.openxmlformats.org/officeDocument/2006/relationships/font" Target="fonts/Lexend-regular.fntdata"/><Relationship Id="rId21" Type="http://schemas.openxmlformats.org/officeDocument/2006/relationships/font" Target="fonts/LexendSemiBold-bold.fntdata"/><Relationship Id="rId24" Type="http://schemas.openxmlformats.org/officeDocument/2006/relationships/font" Target="fonts/RobotoMono-regular.fntdata"/><Relationship Id="rId23" Type="http://schemas.openxmlformats.org/officeDocument/2006/relationships/font" Target="fonts/Lexen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italic.fntdata"/><Relationship Id="rId25" Type="http://schemas.openxmlformats.org/officeDocument/2006/relationships/font" Target="fonts/RobotoMono-bold.fntdata"/><Relationship Id="rId28" Type="http://schemas.openxmlformats.org/officeDocument/2006/relationships/font" Target="fonts/CenturyGothic-regular.fntdata"/><Relationship Id="rId27" Type="http://schemas.openxmlformats.org/officeDocument/2006/relationships/font" Target="fonts/RobotoMon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enturyGothic-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Hi</a:t>
            </a:r>
            <a:r>
              <a:rPr lang="en-US"/>
              <a:t>. Today I’ll be walking you through our Intelligent Market Analysis system. In an era where used car prices have defied traditional depreciation curves, we wanted to build a deep learning framework that moves beyond simple regression to provide true decision support for consumers.</a:t>
            </a:r>
            <a:endParaRPr/>
          </a:p>
        </p:txBody>
      </p:sp>
      <p:sp>
        <p:nvSpPr>
          <p:cNvPr id="136" name="Google Shape;1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ad74a690d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 leaders in data science, we know that market volatility is a 'feature,' not a bug. Post-pandemic, used car prices spiked by nearly 30% according to Edmunds research. This created a transparency gap. Buyers no longer have a reliable 'gut feeling' for value. Our goal was to build a tool that uses high-dimensional data to restore that transparency through price estimation, automated deal flagging, and alternative matching.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42" name="Google Shape;142;g39ad74a690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b10e0c1c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9b10e0c1c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hypothesis was straightforward: a vehicle’s value is a non-linear function of its attributes. However, we didn't want to stop at just a 'price guess.' We scoped this to be a three-tier system: a Regressor for fair-value baselining, a Classifier to categorize 'deal status,' and a Similarity Engine to help users pivot to alternatives when their primary choice is overpriced.</a:t>
            </a:r>
            <a:endParaRPr/>
          </a:p>
        </p:txBody>
      </p:sp>
      <p:sp>
        <p:nvSpPr>
          <p:cNvPr id="150" name="Google Shape;150;g39b10e0c1c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3ca362bc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b3ca362bc5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approached this using a modular four-phase lifecycle. Phase 1 was our technical foundation—cleaning 2,500 records and resolving high cardinality in models. Phase 2 was our diagnostic phase, where we benchmarked DNNs against Linear Regression. Phases 3 and 4 were where the business value was realized: integrating user constraints and deploying the Autoencoder for unsupervised similarity matching.</a:t>
            </a:r>
            <a:endParaRPr/>
          </a:p>
        </p:txBody>
      </p:sp>
      <p:sp>
        <p:nvSpPr>
          <p:cNvPr id="158" name="Google Shape;158;g3b3ca362bc5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3ca362bc5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b3ca362bc5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b3ca362bc5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3ca362bc5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b3ca362bc5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3b3ca362bc5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3ca362bc5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b3ca362bc5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b3ca362bc5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b10e0c1c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9b10e0c1c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every data project has its 'moment of truth.' For us, it was the EDA. We found a very low signal-to-noise ratio.Our Initial Data Review showed a remarkably clean dataset, but the Exploratory Data Analysis revealed a major challenge: a 'Correlation Gap.'  Traditional features like Mileage and Year showed almost no linear correlation with Price in this specific sample. As a leader, you recognize this risk—it tells us that the pricing in this data is either highly localized or influenced by latent variables like vehicle history or trim levels that weren't in the initial set.</a:t>
            </a:r>
            <a:endParaRPr/>
          </a:p>
        </p:txBody>
      </p:sp>
      <p:sp>
        <p:nvSpPr>
          <p:cNvPr id="190" name="Google Shape;190;g39b10e0c1c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we ran our benchmarks, the DNN matched our baseline Linear Regression with an R2 near zero. Rather than trying to 'force' a fit through hyperparameter tuning—which usually leads to overfitting in low-signal data—we made a strategic pivot. We redefined the Regressor’s role. Instead of a high-precision predictor, it became our 'Market Average Benchmark,' providing the statistical mean needed to identify price outliers.</a:t>
            </a:r>
            <a:endParaRPr/>
          </a:p>
        </p:txBody>
      </p:sp>
      <p:sp>
        <p:nvSpPr>
          <p:cNvPr id="199" name="Google Shape;1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ad74a690d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Because price prediction was noisy, we leaned into unsupervised learning. We built an Autoencoder to learn the structural 'DNA' of the cars. We compressed over 10 features into an 8-dimensional latent vector. The value here is that the system learns what a car </a:t>
            </a:r>
            <a:r>
              <a:rPr i="1" lang="en-US" sz="1100">
                <a:latin typeface="Arial"/>
                <a:ea typeface="Arial"/>
                <a:cs typeface="Arial"/>
                <a:sym typeface="Arial"/>
              </a:rPr>
              <a:t>is</a:t>
            </a:r>
            <a:r>
              <a:rPr lang="en-US" sz="1100">
                <a:latin typeface="Arial"/>
                <a:ea typeface="Arial"/>
                <a:cs typeface="Arial"/>
                <a:sym typeface="Arial"/>
              </a:rPr>
              <a:t>—its engine size, its condition, its transmission—independently of its price tag.</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This allows the system to recognize structural similarity. If a user finds a 'Corolla' they like but it's flagged as overpriced, our engine can surface alternative 'Identities'—cars with similar mileage, age, and performance DNA—that offer better value.</a:t>
            </a:r>
            <a:endParaRPr sz="1100">
              <a:latin typeface="Arial"/>
              <a:ea typeface="Arial"/>
              <a:cs typeface="Arial"/>
              <a:sym typeface="Arial"/>
            </a:endParaRPr>
          </a:p>
        </p:txBody>
      </p:sp>
      <p:sp>
        <p:nvSpPr>
          <p:cNvPr id="205" name="Google Shape;205;g39ad74a690d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ad74a690d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validate the Autoencoder, we used t-SNE </a:t>
            </a:r>
            <a:r>
              <a:rPr lang="en-US">
                <a:solidFill>
                  <a:srgbClr val="1F1F1F"/>
                </a:solidFill>
                <a:highlight>
                  <a:srgbClr val="FFFFFF"/>
                </a:highlight>
                <a:latin typeface="Arial"/>
                <a:ea typeface="Arial"/>
                <a:cs typeface="Arial"/>
                <a:sym typeface="Arial"/>
              </a:rPr>
              <a:t>(t-Distributed Stochastic Neighbor Embedding) </a:t>
            </a:r>
            <a:r>
              <a:rPr lang="en-US"/>
              <a:t> to squash that latent space into two dimensions. Even without labels, the model naturally clustered similar vehicle types together. This confirmed that our 'Similarity Engine' was mathematically sound. It allows us to say to a user: 'This car is overpriced, but here are three others that are structurally almost identical but priced fairly.</a:t>
            </a:r>
            <a:endParaRPr/>
          </a:p>
          <a:p>
            <a:pPr indent="0" lvl="0" marL="0" rtl="0" algn="l">
              <a:lnSpc>
                <a:spcPct val="100000"/>
              </a:lnSpc>
              <a:spcBef>
                <a:spcPts val="0"/>
              </a:spcBef>
              <a:spcAft>
                <a:spcPts val="0"/>
              </a:spcAft>
              <a:buSzPts val="1400"/>
              <a:buNone/>
            </a:pPr>
            <a:r>
              <a:rPr lang="en-US"/>
              <a:t>This proves our 'Identity Mapping' is robust. While we cannot perfectly predict 'Value' with this specific data, we can perfectly define 'Similarity,' which provides massive business value for a recommendation platform.</a:t>
            </a:r>
            <a:endParaRPr/>
          </a:p>
        </p:txBody>
      </p:sp>
      <p:sp>
        <p:nvSpPr>
          <p:cNvPr id="212" name="Google Shape;212;g39ad74a690d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ad74a690d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wrapped all these components—the preprocessor, regressor, classifier, and encoder—into a single inference function. This isn't just a model; it's a pipeline. It takes raw listing data and outputs a three-part report: a fair value estimate, a deal assessment, and a list of mathematically similar recommendations.</a:t>
            </a:r>
            <a:endParaRPr/>
          </a:p>
        </p:txBody>
      </p:sp>
      <p:sp>
        <p:nvSpPr>
          <p:cNvPr id="219" name="Google Shape;219;g39ad74a690d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ad74a690d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summarize our accomplishments: we’ve moved from raw data to a modular AI framework. We successfully deployed multiple architectures—DNNs for classification and Autoencoders for similarity. Most importantly, we’ve created a 'Safety Net' for the consumer by automating the detection of overpriced listings in a volatile market.</a:t>
            </a:r>
            <a:endParaRPr/>
          </a:p>
        </p:txBody>
      </p:sp>
      <p:sp>
        <p:nvSpPr>
          <p:cNvPr id="226" name="Google Shape;226;g39ad74a690d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ad74a690d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next steps are focused on 'Solving for Signal.' To improve R2, we need to ingest more granular data—specifically Trim Levels and Accident History. We also see a massive opportunity in using NLP to extract value from dealer descriptions. </a:t>
            </a:r>
            <a:endParaRPr/>
          </a:p>
        </p:txBody>
      </p:sp>
      <p:sp>
        <p:nvSpPr>
          <p:cNvPr id="232" name="Google Shape;232;g39ad74a690d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b1e0db14a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9b1e0db14a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negative R2 confirms the model is currently no better than guessing the mean. This validates that the core features in this specific dataset are decoupled from price. However, our architecture is 'plug-and-play'—as soon as we ingest higher-signal data like vehicle history or region, the system is ready to scale without rewriting the pipeline.</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t>This project provides the architectural 'plumbing'; now, we just need to feed it higher-fidelity data. </a:t>
            </a:r>
            <a:endParaRPr/>
          </a:p>
        </p:txBody>
      </p:sp>
      <p:sp>
        <p:nvSpPr>
          <p:cNvPr id="240" name="Google Shape;240;g39b1e0db14a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bg>
      <p:bgPr>
        <a:solidFill>
          <a:schemeClr val="accent5"/>
        </a:solidFill>
      </p:bgPr>
    </p:bg>
    <p:spTree>
      <p:nvGrpSpPr>
        <p:cNvPr id="15" name="Shape 15"/>
        <p:cNvGrpSpPr/>
        <p:nvPr/>
      </p:nvGrpSpPr>
      <p:grpSpPr>
        <a:xfrm>
          <a:off x="0" y="0"/>
          <a:ext cx="0" cy="0"/>
          <a:chOff x="0" y="0"/>
          <a:chExt cx="0" cy="0"/>
        </a:xfrm>
      </p:grpSpPr>
      <p:pic>
        <p:nvPicPr>
          <p:cNvPr id="16" name="Google Shape;16;p8"/>
          <p:cNvPicPr preferRelativeResize="0"/>
          <p:nvPr/>
        </p:nvPicPr>
        <p:blipFill rotWithShape="1">
          <a:blip r:embed="rId2">
            <a:alphaModFix/>
          </a:blip>
          <a:srcRect b="0" l="37393" r="0" t="46145"/>
          <a:stretch/>
        </p:blipFill>
        <p:spPr>
          <a:xfrm rot="10430020">
            <a:off x="8393948" y="4154477"/>
            <a:ext cx="3964137" cy="2912682"/>
          </a:xfrm>
          <a:custGeom>
            <a:rect b="b" l="l" r="r" t="t"/>
            <a:pathLst>
              <a:path extrusionOk="0" h="2910382" w="3961007">
                <a:moveTo>
                  <a:pt x="0" y="2910382"/>
                </a:moveTo>
                <a:lnTo>
                  <a:pt x="312841" y="0"/>
                </a:lnTo>
                <a:lnTo>
                  <a:pt x="3961007" y="392147"/>
                </a:lnTo>
                <a:lnTo>
                  <a:pt x="3961007" y="2910382"/>
                </a:lnTo>
                <a:close/>
              </a:path>
            </a:pathLst>
          </a:custGeom>
          <a:noFill/>
          <a:ln>
            <a:noFill/>
          </a:ln>
        </p:spPr>
      </p:pic>
      <p:pic>
        <p:nvPicPr>
          <p:cNvPr id="17" name="Google Shape;17;p8"/>
          <p:cNvPicPr preferRelativeResize="0"/>
          <p:nvPr/>
        </p:nvPicPr>
        <p:blipFill rotWithShape="1">
          <a:blip r:embed="rId3">
            <a:alphaModFix/>
          </a:blip>
          <a:srcRect b="51252" l="3125" r="12599" t="0"/>
          <a:stretch/>
        </p:blipFill>
        <p:spPr>
          <a:xfrm rot="-8367651">
            <a:off x="6803365" y="-836493"/>
            <a:ext cx="7519940" cy="3715584"/>
          </a:xfrm>
          <a:custGeom>
            <a:rect b="b" l="l" r="r" t="t"/>
            <a:pathLst>
              <a:path extrusionOk="0" h="3715398" w="7519564">
                <a:moveTo>
                  <a:pt x="7519564" y="0"/>
                </a:moveTo>
                <a:lnTo>
                  <a:pt x="3183782" y="3715398"/>
                </a:lnTo>
                <a:lnTo>
                  <a:pt x="0" y="0"/>
                </a:lnTo>
                <a:close/>
              </a:path>
            </a:pathLst>
          </a:custGeom>
          <a:noFill/>
          <a:ln>
            <a:noFill/>
          </a:ln>
        </p:spPr>
      </p:pic>
      <p:pic>
        <p:nvPicPr>
          <p:cNvPr id="18" name="Google Shape;18;p8"/>
          <p:cNvPicPr preferRelativeResize="0"/>
          <p:nvPr/>
        </p:nvPicPr>
        <p:blipFill rotWithShape="1">
          <a:blip r:embed="rId4">
            <a:alphaModFix/>
          </a:blip>
          <a:srcRect b="0" l="0" r="0" t="80068"/>
          <a:stretch/>
        </p:blipFill>
        <p:spPr>
          <a:xfrm rot="10800000">
            <a:off x="-238765" y="5718856"/>
            <a:ext cx="7493958" cy="1151336"/>
          </a:xfrm>
          <a:custGeom>
            <a:rect b="b" l="l" r="r" t="t"/>
            <a:pathLst>
              <a:path extrusionOk="0" h="1151336" w="7493958">
                <a:moveTo>
                  <a:pt x="7493958" y="1151336"/>
                </a:moveTo>
                <a:lnTo>
                  <a:pt x="0" y="1151336"/>
                </a:lnTo>
                <a:lnTo>
                  <a:pt x="0" y="0"/>
                </a:lnTo>
                <a:lnTo>
                  <a:pt x="7493958" y="0"/>
                </a:lnTo>
                <a:close/>
              </a:path>
            </a:pathLst>
          </a:custGeom>
          <a:noFill/>
          <a:ln>
            <a:noFill/>
          </a:ln>
        </p:spPr>
      </p:pic>
      <p:pic>
        <p:nvPicPr>
          <p:cNvPr id="19" name="Google Shape;19;p8"/>
          <p:cNvPicPr preferRelativeResize="0"/>
          <p:nvPr/>
        </p:nvPicPr>
        <p:blipFill rotWithShape="1">
          <a:blip r:embed="rId5">
            <a:alphaModFix/>
          </a:blip>
          <a:srcRect b="41886" l="0" r="22606" t="0"/>
          <a:stretch/>
        </p:blipFill>
        <p:spPr>
          <a:xfrm rot="7074731">
            <a:off x="-2907392" y="603475"/>
            <a:ext cx="7966460" cy="4611146"/>
          </a:xfrm>
          <a:custGeom>
            <a:rect b="b" l="l" r="r" t="t"/>
            <a:pathLst>
              <a:path extrusionOk="0" h="4617239" w="7976987">
                <a:moveTo>
                  <a:pt x="0" y="999998"/>
                </a:moveTo>
                <a:lnTo>
                  <a:pt x="0" y="0"/>
                </a:lnTo>
                <a:lnTo>
                  <a:pt x="7232280" y="0"/>
                </a:lnTo>
                <a:lnTo>
                  <a:pt x="7976987" y="1404379"/>
                </a:lnTo>
                <a:lnTo>
                  <a:pt x="1918134" y="4617239"/>
                </a:lnTo>
                <a:close/>
              </a:path>
            </a:pathLst>
          </a:custGeom>
          <a:noFill/>
          <a:ln>
            <a:noFill/>
          </a:ln>
        </p:spPr>
      </p:pic>
      <p:sp>
        <p:nvSpPr>
          <p:cNvPr id="20" name="Google Shape;20;p8"/>
          <p:cNvSpPr/>
          <p:nvPr/>
        </p:nvSpPr>
        <p:spPr>
          <a:xfrm>
            <a:off x="1567895" y="0"/>
            <a:ext cx="2938406" cy="614238"/>
          </a:xfrm>
          <a:custGeom>
            <a:rect b="b" l="l" r="r" t="t"/>
            <a:pathLst>
              <a:path extrusionOk="0" h="614238" w="2938406">
                <a:moveTo>
                  <a:pt x="0" y="0"/>
                </a:moveTo>
                <a:lnTo>
                  <a:pt x="2938406" y="0"/>
                </a:lnTo>
                <a:lnTo>
                  <a:pt x="2930135" y="9100"/>
                </a:lnTo>
                <a:cubicBezTo>
                  <a:pt x="2556250" y="382985"/>
                  <a:pt x="2039733" y="614238"/>
                  <a:pt x="1469203" y="614238"/>
                </a:cubicBezTo>
                <a:cubicBezTo>
                  <a:pt x="898674" y="614238"/>
                  <a:pt x="382156" y="382985"/>
                  <a:pt x="8271" y="91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1" name="Google Shape;21;p8"/>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8"/>
          <p:cNvSpPr txBox="1"/>
          <p:nvPr>
            <p:ph type="title"/>
          </p:nvPr>
        </p:nvSpPr>
        <p:spPr>
          <a:xfrm>
            <a:off x="915924" y="1463040"/>
            <a:ext cx="10360200" cy="4471500"/>
          </a:xfrm>
          <a:prstGeom prst="rect">
            <a:avLst/>
          </a:prstGeom>
          <a:noFill/>
          <a:ln>
            <a:noFill/>
          </a:ln>
        </p:spPr>
        <p:txBody>
          <a:bodyPr anchorCtr="0" anchor="ctr" bIns="45700" lIns="91425" spcFirstLastPara="1" rIns="91425" wrap="square" tIns="45700">
            <a:noAutofit/>
          </a:bodyPr>
          <a:lstStyle>
            <a:lvl1pPr lvl="0" algn="ctr">
              <a:lnSpc>
                <a:spcPct val="75000"/>
              </a:lnSpc>
              <a:spcBef>
                <a:spcPts val="0"/>
              </a:spcBef>
              <a:spcAft>
                <a:spcPts val="0"/>
              </a:spcAft>
              <a:buClr>
                <a:schemeClr val="lt1"/>
              </a:buClr>
              <a:buSzPts val="5400"/>
              <a:buFont typeface="Century Gothic"/>
              <a:buNone/>
              <a:defRPr sz="5400" cap="none">
                <a:solidFill>
                  <a:schemeClr val="lt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lt1"/>
        </a:solidFill>
      </p:bgPr>
    </p:bg>
    <p:spTree>
      <p:nvGrpSpPr>
        <p:cNvPr id="23" name="Shape 23"/>
        <p:cNvGrpSpPr/>
        <p:nvPr/>
      </p:nvGrpSpPr>
      <p:grpSpPr>
        <a:xfrm>
          <a:off x="0" y="0"/>
          <a:ext cx="0" cy="0"/>
          <a:chOff x="0" y="0"/>
          <a:chExt cx="0" cy="0"/>
        </a:xfrm>
      </p:grpSpPr>
      <p:cxnSp>
        <p:nvCxnSpPr>
          <p:cNvPr id="24" name="Google Shape;24;p9"/>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25" name="Google Shape;25;p9"/>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9"/>
          <p:cNvSpPr/>
          <p:nvPr/>
        </p:nvSpPr>
        <p:spPr>
          <a:xfrm>
            <a:off x="1" y="2304754"/>
            <a:ext cx="2954761" cy="4553246"/>
          </a:xfrm>
          <a:custGeom>
            <a:rect b="b" l="l" r="r" t="t"/>
            <a:pathLst>
              <a:path extrusionOk="0" h="4553246" w="2954761">
                <a:moveTo>
                  <a:pt x="0" y="0"/>
                </a:moveTo>
                <a:lnTo>
                  <a:pt x="117233" y="82668"/>
                </a:lnTo>
                <a:cubicBezTo>
                  <a:pt x="705921" y="563578"/>
                  <a:pt x="630379" y="1460513"/>
                  <a:pt x="730843" y="1827598"/>
                </a:cubicBezTo>
                <a:cubicBezTo>
                  <a:pt x="761151" y="1950602"/>
                  <a:pt x="807625" y="2067161"/>
                  <a:pt x="868972" y="2174038"/>
                </a:cubicBezTo>
                <a:cubicBezTo>
                  <a:pt x="1016204" y="2430540"/>
                  <a:pt x="1160257" y="2594499"/>
                  <a:pt x="1502761" y="2758135"/>
                </a:cubicBezTo>
                <a:cubicBezTo>
                  <a:pt x="2178883" y="3079569"/>
                  <a:pt x="2895559" y="3693004"/>
                  <a:pt x="2954466" y="4460522"/>
                </a:cubicBezTo>
                <a:lnTo>
                  <a:pt x="2954761" y="4553246"/>
                </a:lnTo>
                <a:lnTo>
                  <a:pt x="0" y="4553246"/>
                </a:lnTo>
                <a:close/>
              </a:path>
            </a:pathLst>
          </a:custGeom>
          <a:solidFill>
            <a:srgbClr val="E62F5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7" name="Google Shape;27;p9"/>
          <p:cNvSpPr txBox="1"/>
          <p:nvPr>
            <p:ph type="title"/>
          </p:nvPr>
        </p:nvSpPr>
        <p:spPr>
          <a:xfrm>
            <a:off x="699372" y="536983"/>
            <a:ext cx="4987500" cy="50448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9"/>
          <p:cNvSpPr txBox="1"/>
          <p:nvPr>
            <p:ph idx="1" type="body"/>
          </p:nvPr>
        </p:nvSpPr>
        <p:spPr>
          <a:xfrm>
            <a:off x="5911850" y="2343150"/>
            <a:ext cx="5568900" cy="43641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600"/>
              </a:spcBef>
              <a:spcAft>
                <a:spcPts val="0"/>
              </a:spcAft>
              <a:buClr>
                <a:schemeClr val="dk1"/>
              </a:buClr>
              <a:buSzPts val="2000"/>
              <a:buChar char="•"/>
              <a:defRPr sz="2000"/>
            </a:lvl1pPr>
            <a:lvl2pPr indent="-342900" lvl="1" marL="914400" algn="l">
              <a:lnSpc>
                <a:spcPct val="100000"/>
              </a:lnSpc>
              <a:spcBef>
                <a:spcPts val="1200"/>
              </a:spcBef>
              <a:spcAft>
                <a:spcPts val="0"/>
              </a:spcAft>
              <a:buClr>
                <a:schemeClr val="dk1"/>
              </a:buClr>
              <a:buSzPts val="1800"/>
              <a:buChar char="•"/>
              <a:defRPr sz="1800"/>
            </a:lvl2pPr>
            <a:lvl3pPr indent="-330200" lvl="2" marL="1371600" algn="l">
              <a:lnSpc>
                <a:spcPct val="100000"/>
              </a:lnSpc>
              <a:spcBef>
                <a:spcPts val="1200"/>
              </a:spcBef>
              <a:spcAft>
                <a:spcPts val="0"/>
              </a:spcAft>
              <a:buClr>
                <a:schemeClr val="dk1"/>
              </a:buClr>
              <a:buSzPts val="1600"/>
              <a:buChar char="•"/>
              <a:defRPr sz="1600"/>
            </a:lvl3pPr>
            <a:lvl4pPr indent="-317500" lvl="3" marL="1828800" algn="l">
              <a:lnSpc>
                <a:spcPct val="100000"/>
              </a:lnSpc>
              <a:spcBef>
                <a:spcPts val="1200"/>
              </a:spcBef>
              <a:spcAft>
                <a:spcPts val="0"/>
              </a:spcAft>
              <a:buClr>
                <a:schemeClr val="dk1"/>
              </a:buClr>
              <a:buSzPts val="1400"/>
              <a:buChar char="•"/>
              <a:defRPr sz="1400"/>
            </a:lvl4pPr>
            <a:lvl5pPr indent="-317500" lvl="4" marL="2286000" algn="l">
              <a:lnSpc>
                <a:spcPct val="10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bg>
      <p:bgPr>
        <a:solidFill>
          <a:schemeClr val="accent3"/>
        </a:solidFill>
      </p:bgPr>
    </p:bg>
    <p:spTree>
      <p:nvGrpSpPr>
        <p:cNvPr id="31" name="Shape 31"/>
        <p:cNvGrpSpPr/>
        <p:nvPr/>
      </p:nvGrpSpPr>
      <p:grpSpPr>
        <a:xfrm>
          <a:off x="0" y="0"/>
          <a:ext cx="0" cy="0"/>
          <a:chOff x="0" y="0"/>
          <a:chExt cx="0" cy="0"/>
        </a:xfrm>
      </p:grpSpPr>
      <p:sp>
        <p:nvSpPr>
          <p:cNvPr id="32" name="Google Shape;32;p10"/>
          <p:cNvSpPr/>
          <p:nvPr/>
        </p:nvSpPr>
        <p:spPr>
          <a:xfrm>
            <a:off x="10451328" y="0"/>
            <a:ext cx="1740673" cy="2452455"/>
          </a:xfrm>
          <a:custGeom>
            <a:rect b="b" l="l" r="r" t="t"/>
            <a:pathLst>
              <a:path extrusionOk="0" h="2452455" w="1740673">
                <a:moveTo>
                  <a:pt x="9752" y="0"/>
                </a:moveTo>
                <a:lnTo>
                  <a:pt x="1740673" y="0"/>
                </a:lnTo>
                <a:lnTo>
                  <a:pt x="1740673" y="2452455"/>
                </a:lnTo>
                <a:lnTo>
                  <a:pt x="1641792" y="2253927"/>
                </a:lnTo>
                <a:cubicBezTo>
                  <a:pt x="1523030" y="2044952"/>
                  <a:pt x="1373754" y="1845991"/>
                  <a:pt x="1168412" y="1679772"/>
                </a:cubicBezTo>
                <a:cubicBezTo>
                  <a:pt x="742644" y="1335088"/>
                  <a:pt x="-7886" y="949509"/>
                  <a:pt x="63" y="13582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id="33" name="Google Shape;33;p10"/>
          <p:cNvPicPr preferRelativeResize="0"/>
          <p:nvPr/>
        </p:nvPicPr>
        <p:blipFill rotWithShape="1">
          <a:blip r:embed="rId2">
            <a:alphaModFix/>
          </a:blip>
          <a:srcRect b="0" l="0" r="0" t="68714"/>
          <a:stretch/>
        </p:blipFill>
        <p:spPr>
          <a:xfrm flipH="1">
            <a:off x="4605276" y="0"/>
            <a:ext cx="7493958" cy="1807198"/>
          </a:xfrm>
          <a:custGeom>
            <a:rect b="b" l="l" r="r" t="t"/>
            <a:pathLst>
              <a:path extrusionOk="0" h="1807198" w="7493958">
                <a:moveTo>
                  <a:pt x="7493958" y="0"/>
                </a:moveTo>
                <a:lnTo>
                  <a:pt x="0" y="0"/>
                </a:lnTo>
                <a:lnTo>
                  <a:pt x="0" y="1807198"/>
                </a:lnTo>
                <a:lnTo>
                  <a:pt x="7493958" y="1807198"/>
                </a:lnTo>
                <a:close/>
              </a:path>
            </a:pathLst>
          </a:custGeom>
          <a:noFill/>
          <a:ln>
            <a:noFill/>
          </a:ln>
        </p:spPr>
      </p:pic>
      <p:sp>
        <p:nvSpPr>
          <p:cNvPr id="34" name="Google Shape;34;p10"/>
          <p:cNvSpPr/>
          <p:nvPr/>
        </p:nvSpPr>
        <p:spPr>
          <a:xfrm flipH="1" rot="10800000">
            <a:off x="580429" y="5885690"/>
            <a:ext cx="3501038" cy="972311"/>
          </a:xfrm>
          <a:custGeom>
            <a:rect b="b" l="l" r="r" t="t"/>
            <a:pathLst>
              <a:path extrusionOk="0" h="972311" w="3501038">
                <a:moveTo>
                  <a:pt x="1750519" y="972311"/>
                </a:moveTo>
                <a:cubicBezTo>
                  <a:pt x="2463681" y="972311"/>
                  <a:pt x="3092449" y="610979"/>
                  <a:pt x="3463737" y="61401"/>
                </a:cubicBezTo>
                <a:lnTo>
                  <a:pt x="3501038" y="0"/>
                </a:lnTo>
                <a:lnTo>
                  <a:pt x="0" y="0"/>
                </a:lnTo>
                <a:lnTo>
                  <a:pt x="37301" y="61401"/>
                </a:lnTo>
                <a:cubicBezTo>
                  <a:pt x="408589" y="610979"/>
                  <a:pt x="1037357" y="972311"/>
                  <a:pt x="1750519" y="9723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10"/>
          <p:cNvSpPr/>
          <p:nvPr/>
        </p:nvSpPr>
        <p:spPr>
          <a:xfrm>
            <a:off x="8558800" y="4948819"/>
            <a:ext cx="3633200" cy="1909181"/>
          </a:xfrm>
          <a:custGeom>
            <a:rect b="b" l="l" r="r" t="t"/>
            <a:pathLst>
              <a:path extrusionOk="0" h="1909181" w="3633200">
                <a:moveTo>
                  <a:pt x="3633200" y="0"/>
                </a:moveTo>
                <a:lnTo>
                  <a:pt x="3633200" y="1909181"/>
                </a:lnTo>
                <a:lnTo>
                  <a:pt x="0" y="1909181"/>
                </a:lnTo>
                <a:lnTo>
                  <a:pt x="93750" y="1811399"/>
                </a:lnTo>
                <a:cubicBezTo>
                  <a:pt x="559335" y="1384673"/>
                  <a:pt x="1301474" y="1240755"/>
                  <a:pt x="1924918" y="1263638"/>
                </a:cubicBezTo>
                <a:cubicBezTo>
                  <a:pt x="2304271" y="1276833"/>
                  <a:pt x="2507796" y="1198020"/>
                  <a:pt x="2756912" y="1038610"/>
                </a:cubicBezTo>
                <a:cubicBezTo>
                  <a:pt x="2860710" y="972190"/>
                  <a:pt x="2955795" y="890308"/>
                  <a:pt x="3039524" y="795240"/>
                </a:cubicBezTo>
                <a:cubicBezTo>
                  <a:pt x="3187383" y="635762"/>
                  <a:pt x="3364245" y="296298"/>
                  <a:pt x="3627562" y="581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10"/>
          <p:cNvSpPr/>
          <p:nvPr/>
        </p:nvSpPr>
        <p:spPr>
          <a:xfrm>
            <a:off x="0" y="0"/>
            <a:ext cx="1991252" cy="4572104"/>
          </a:xfrm>
          <a:custGeom>
            <a:rect b="b" l="l" r="r" t="t"/>
            <a:pathLst>
              <a:path extrusionOk="0" h="4572104" w="1991252">
                <a:moveTo>
                  <a:pt x="0" y="2138799"/>
                </a:moveTo>
                <a:lnTo>
                  <a:pt x="6705" y="2143576"/>
                </a:lnTo>
                <a:cubicBezTo>
                  <a:pt x="195773" y="2267705"/>
                  <a:pt x="406581" y="2377529"/>
                  <a:pt x="516530" y="2534582"/>
                </a:cubicBezTo>
                <a:cubicBezTo>
                  <a:pt x="696394" y="2804803"/>
                  <a:pt x="754748" y="3134725"/>
                  <a:pt x="685548" y="3451134"/>
                </a:cubicBezTo>
                <a:cubicBezTo>
                  <a:pt x="607573" y="3849685"/>
                  <a:pt x="375193" y="4238508"/>
                  <a:pt x="60148" y="4521457"/>
                </a:cubicBezTo>
                <a:lnTo>
                  <a:pt x="0" y="4572104"/>
                </a:lnTo>
                <a:close/>
                <a:moveTo>
                  <a:pt x="0" y="0"/>
                </a:moveTo>
                <a:lnTo>
                  <a:pt x="1991252" y="0"/>
                </a:lnTo>
                <a:lnTo>
                  <a:pt x="1947397" y="93155"/>
                </a:lnTo>
                <a:cubicBezTo>
                  <a:pt x="1909773" y="158891"/>
                  <a:pt x="1866874" y="221286"/>
                  <a:pt x="1818489" y="279679"/>
                </a:cubicBezTo>
                <a:cubicBezTo>
                  <a:pt x="1586623" y="558208"/>
                  <a:pt x="1093740" y="786286"/>
                  <a:pt x="763951" y="856979"/>
                </a:cubicBezTo>
                <a:cubicBezTo>
                  <a:pt x="588836" y="892826"/>
                  <a:pt x="291439" y="973000"/>
                  <a:pt x="44441" y="1105345"/>
                </a:cubicBezTo>
                <a:lnTo>
                  <a:pt x="0" y="1133371"/>
                </a:lnTo>
                <a:close/>
              </a:path>
            </a:pathLst>
          </a:custGeom>
          <a:solidFill>
            <a:srgbClr val="FDF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10"/>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10"/>
          <p:cNvSpPr txBox="1"/>
          <p:nvPr>
            <p:ph type="title"/>
          </p:nvPr>
        </p:nvSpPr>
        <p:spPr>
          <a:xfrm>
            <a:off x="915924" y="914400"/>
            <a:ext cx="10360200" cy="3657600"/>
          </a:xfrm>
          <a:prstGeom prst="rect">
            <a:avLst/>
          </a:prstGeom>
          <a:noFill/>
          <a:ln>
            <a:noFill/>
          </a:ln>
        </p:spPr>
        <p:txBody>
          <a:bodyPr anchorCtr="0" anchor="b" bIns="45700" lIns="91425" spcFirstLastPara="1" rIns="91425" wrap="square" tIns="45700">
            <a:noAutofit/>
          </a:bodyPr>
          <a:lstStyle>
            <a:lvl1pPr lvl="0" algn="ctr">
              <a:lnSpc>
                <a:spcPct val="75000"/>
              </a:lnSpc>
              <a:spcBef>
                <a:spcPts val="0"/>
              </a:spcBef>
              <a:spcAft>
                <a:spcPts val="0"/>
              </a:spcAft>
              <a:buClr>
                <a:schemeClr val="dk1"/>
              </a:buClr>
              <a:buSzPts val="5400"/>
              <a:buFont typeface="Century Gothic"/>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 type="body"/>
          </p:nvPr>
        </p:nvSpPr>
        <p:spPr>
          <a:xfrm>
            <a:off x="1630363" y="5006113"/>
            <a:ext cx="8931300" cy="1720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a:lvl1pPr>
            <a:lvl2pPr indent="-228600" lvl="1" marL="914400" algn="ctr">
              <a:lnSpc>
                <a:spcPct val="90000"/>
              </a:lnSpc>
              <a:spcBef>
                <a:spcPts val="500"/>
              </a:spcBef>
              <a:spcAft>
                <a:spcPts val="0"/>
              </a:spcAft>
              <a:buClr>
                <a:schemeClr val="dk1"/>
              </a:buClr>
              <a:buSzPts val="2000"/>
              <a:buNone/>
              <a:defRPr/>
            </a:lvl2pPr>
            <a:lvl3pPr indent="-228600" lvl="2" marL="1371600" algn="ctr">
              <a:lnSpc>
                <a:spcPct val="90000"/>
              </a:lnSpc>
              <a:spcBef>
                <a:spcPts val="500"/>
              </a:spcBef>
              <a:spcAft>
                <a:spcPts val="0"/>
              </a:spcAft>
              <a:buClr>
                <a:schemeClr val="dk1"/>
              </a:buClr>
              <a:buSzPts val="1800"/>
              <a:buNone/>
              <a:defRPr/>
            </a:lvl3pPr>
            <a:lvl4pPr indent="-228600" lvl="3" marL="1828800" algn="ctr">
              <a:lnSpc>
                <a:spcPct val="90000"/>
              </a:lnSpc>
              <a:spcBef>
                <a:spcPts val="500"/>
              </a:spcBef>
              <a:spcAft>
                <a:spcPts val="0"/>
              </a:spcAft>
              <a:buClr>
                <a:schemeClr val="dk1"/>
              </a:buClr>
              <a:buSzPts val="1600"/>
              <a:buNone/>
              <a:defRPr/>
            </a:lvl4pPr>
            <a:lvl5pPr indent="-228600" lvl="4" marL="2286000" algn="ctr">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1">
    <p:bg>
      <p:bgPr>
        <a:solidFill>
          <a:schemeClr val="lt1"/>
        </a:solidFill>
      </p:bgPr>
    </p:bg>
    <p:spTree>
      <p:nvGrpSpPr>
        <p:cNvPr id="40" name="Shape 40"/>
        <p:cNvGrpSpPr/>
        <p:nvPr/>
      </p:nvGrpSpPr>
      <p:grpSpPr>
        <a:xfrm>
          <a:off x="0" y="0"/>
          <a:ext cx="0" cy="0"/>
          <a:chOff x="0" y="0"/>
          <a:chExt cx="0" cy="0"/>
        </a:xfrm>
      </p:grpSpPr>
      <p:sp>
        <p:nvSpPr>
          <p:cNvPr id="41" name="Google Shape;41;p11"/>
          <p:cNvSpPr/>
          <p:nvPr/>
        </p:nvSpPr>
        <p:spPr>
          <a:xfrm>
            <a:off x="0" y="4413576"/>
            <a:ext cx="2600243" cy="2444424"/>
          </a:xfrm>
          <a:custGeom>
            <a:rect b="b" l="l" r="r" t="t"/>
            <a:pathLst>
              <a:path extrusionOk="0" h="2444424" w="2600243">
                <a:moveTo>
                  <a:pt x="458924" y="637"/>
                </a:moveTo>
                <a:cubicBezTo>
                  <a:pt x="493548" y="1725"/>
                  <a:pt x="528182" y="4210"/>
                  <a:pt x="562733" y="8107"/>
                </a:cubicBezTo>
                <a:cubicBezTo>
                  <a:pt x="1012449" y="72734"/>
                  <a:pt x="1311790" y="431204"/>
                  <a:pt x="1359862" y="869200"/>
                </a:cubicBezTo>
                <a:cubicBezTo>
                  <a:pt x="1377560" y="1029024"/>
                  <a:pt x="1339048" y="1256941"/>
                  <a:pt x="1443944" y="1395455"/>
                </a:cubicBezTo>
                <a:cubicBezTo>
                  <a:pt x="1541160" y="1521546"/>
                  <a:pt x="1747337" y="1549218"/>
                  <a:pt x="1892284" y="1603510"/>
                </a:cubicBezTo>
                <a:cubicBezTo>
                  <a:pt x="2201784" y="1722676"/>
                  <a:pt x="2528982" y="2001668"/>
                  <a:pt x="2589282" y="2338245"/>
                </a:cubicBezTo>
                <a:lnTo>
                  <a:pt x="2600243" y="2444424"/>
                </a:lnTo>
                <a:lnTo>
                  <a:pt x="0" y="2444424"/>
                </a:lnTo>
                <a:lnTo>
                  <a:pt x="0" y="70818"/>
                </a:lnTo>
                <a:lnTo>
                  <a:pt x="49869" y="53717"/>
                </a:lnTo>
                <a:cubicBezTo>
                  <a:pt x="182087" y="14283"/>
                  <a:pt x="320427" y="-3717"/>
                  <a:pt x="458924" y="63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cxnSp>
        <p:nvCxnSpPr>
          <p:cNvPr id="42" name="Google Shape;42;p11"/>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43" name="Google Shape;43;p11"/>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11"/>
          <p:cNvSpPr txBox="1"/>
          <p:nvPr>
            <p:ph type="title"/>
          </p:nvPr>
        </p:nvSpPr>
        <p:spPr>
          <a:xfrm>
            <a:off x="699372" y="536983"/>
            <a:ext cx="4987500" cy="18063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1"/>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11"/>
          <p:cNvSpPr txBox="1"/>
          <p:nvPr>
            <p:ph idx="1" type="body"/>
          </p:nvPr>
        </p:nvSpPr>
        <p:spPr>
          <a:xfrm>
            <a:off x="2652607" y="2343150"/>
            <a:ext cx="8828100" cy="43593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600"/>
              </a:spcBef>
              <a:spcAft>
                <a:spcPts val="0"/>
              </a:spcAft>
              <a:buClr>
                <a:schemeClr val="dk1"/>
              </a:buClr>
              <a:buSzPts val="2000"/>
              <a:buChar char="•"/>
              <a:defRPr sz="2000"/>
            </a:lvl1pPr>
            <a:lvl2pPr indent="-342900" lvl="1" marL="914400" algn="l">
              <a:lnSpc>
                <a:spcPct val="100000"/>
              </a:lnSpc>
              <a:spcBef>
                <a:spcPts val="1200"/>
              </a:spcBef>
              <a:spcAft>
                <a:spcPts val="0"/>
              </a:spcAft>
              <a:buClr>
                <a:schemeClr val="dk1"/>
              </a:buClr>
              <a:buSzPts val="1800"/>
              <a:buChar char="•"/>
              <a:defRPr sz="1800"/>
            </a:lvl2pPr>
            <a:lvl3pPr indent="-330200" lvl="2" marL="1371600" algn="l">
              <a:lnSpc>
                <a:spcPct val="100000"/>
              </a:lnSpc>
              <a:spcBef>
                <a:spcPts val="1200"/>
              </a:spcBef>
              <a:spcAft>
                <a:spcPts val="0"/>
              </a:spcAft>
              <a:buClr>
                <a:schemeClr val="dk1"/>
              </a:buClr>
              <a:buSzPts val="1600"/>
              <a:buChar char="•"/>
              <a:defRPr sz="1600"/>
            </a:lvl3pPr>
            <a:lvl4pPr indent="-317500" lvl="3" marL="1828800" algn="l">
              <a:lnSpc>
                <a:spcPct val="100000"/>
              </a:lnSpc>
              <a:spcBef>
                <a:spcPts val="1200"/>
              </a:spcBef>
              <a:spcAft>
                <a:spcPts val="0"/>
              </a:spcAft>
              <a:buClr>
                <a:schemeClr val="dk1"/>
              </a:buClr>
              <a:buSzPts val="1400"/>
              <a:buChar char="•"/>
              <a:defRPr sz="1400"/>
            </a:lvl4pPr>
            <a:lvl5pPr indent="-317500" lvl="4" marL="2286000" algn="l">
              <a:lnSpc>
                <a:spcPct val="10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Title + Content 1">
  <p:cSld name="Image + Title + Content 1">
    <p:bg>
      <p:bgPr>
        <a:solidFill>
          <a:srgbClr val="FDF2CD"/>
        </a:solidFill>
      </p:bgPr>
    </p:bg>
    <p:spTree>
      <p:nvGrpSpPr>
        <p:cNvPr id="48" name="Shape 48"/>
        <p:cNvGrpSpPr/>
        <p:nvPr/>
      </p:nvGrpSpPr>
      <p:grpSpPr>
        <a:xfrm>
          <a:off x="0" y="0"/>
          <a:ext cx="0" cy="0"/>
          <a:chOff x="0" y="0"/>
          <a:chExt cx="0" cy="0"/>
        </a:xfrm>
      </p:grpSpPr>
      <p:sp>
        <p:nvSpPr>
          <p:cNvPr id="49" name="Google Shape;49;p12"/>
          <p:cNvSpPr/>
          <p:nvPr/>
        </p:nvSpPr>
        <p:spPr>
          <a:xfrm>
            <a:off x="0" y="1"/>
            <a:ext cx="3385345" cy="492455"/>
          </a:xfrm>
          <a:custGeom>
            <a:rect b="b" l="l" r="r" t="t"/>
            <a:pathLst>
              <a:path extrusionOk="0" h="492455" w="3385345">
                <a:moveTo>
                  <a:pt x="0" y="0"/>
                </a:moveTo>
                <a:lnTo>
                  <a:pt x="3385345" y="0"/>
                </a:lnTo>
                <a:lnTo>
                  <a:pt x="3348503" y="44581"/>
                </a:lnTo>
                <a:cubicBezTo>
                  <a:pt x="2752694" y="665259"/>
                  <a:pt x="1716966" y="550750"/>
                  <a:pt x="967215" y="241508"/>
                </a:cubicBezTo>
                <a:cubicBezTo>
                  <a:pt x="616031" y="97448"/>
                  <a:pt x="397804" y="100710"/>
                  <a:pt x="108843" y="163732"/>
                </a:cubicBezTo>
                <a:lnTo>
                  <a:pt x="0" y="195744"/>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0" name="Google Shape;50;p12"/>
          <p:cNvSpPr/>
          <p:nvPr/>
        </p:nvSpPr>
        <p:spPr>
          <a:xfrm>
            <a:off x="1" y="5404026"/>
            <a:ext cx="1948461" cy="1453974"/>
          </a:xfrm>
          <a:custGeom>
            <a:rect b="b" l="l" r="r" t="t"/>
            <a:pathLst>
              <a:path extrusionOk="0" h="1453974" w="1948461">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1" name="Google Shape;51;p12"/>
          <p:cNvSpPr/>
          <p:nvPr/>
        </p:nvSpPr>
        <p:spPr>
          <a:xfrm flipH="1">
            <a:off x="10995246" y="0"/>
            <a:ext cx="1218019" cy="1324951"/>
          </a:xfrm>
          <a:custGeom>
            <a:rect b="b" l="l" r="r" t="t"/>
            <a:pathLst>
              <a:path extrusionOk="0" h="1324951" w="1218019">
                <a:moveTo>
                  <a:pt x="1218019" y="0"/>
                </a:moveTo>
                <a:lnTo>
                  <a:pt x="0" y="0"/>
                </a:lnTo>
                <a:lnTo>
                  <a:pt x="0" y="1324951"/>
                </a:lnTo>
                <a:lnTo>
                  <a:pt x="44025" y="1308837"/>
                </a:lnTo>
                <a:cubicBezTo>
                  <a:pt x="600182" y="1073602"/>
                  <a:pt x="1031901" y="601768"/>
                  <a:pt x="1213001" y="19515"/>
                </a:cubicBezTo>
                <a:close/>
              </a:path>
            </a:pathLst>
          </a:custGeom>
          <a:solidFill>
            <a:srgbClr val="F6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12"/>
          <p:cNvSpPr/>
          <p:nvPr/>
        </p:nvSpPr>
        <p:spPr>
          <a:xfrm>
            <a:off x="9467686" y="6369613"/>
            <a:ext cx="2355305" cy="488389"/>
          </a:xfrm>
          <a:custGeom>
            <a:rect b="b" l="l" r="r" t="t"/>
            <a:pathLst>
              <a:path extrusionOk="0" h="488389" w="2355305">
                <a:moveTo>
                  <a:pt x="1090338" y="249"/>
                </a:moveTo>
                <a:cubicBezTo>
                  <a:pt x="1350361" y="-4090"/>
                  <a:pt x="1613690" y="48451"/>
                  <a:pt x="1849675" y="151843"/>
                </a:cubicBezTo>
                <a:cubicBezTo>
                  <a:pt x="2012239" y="223978"/>
                  <a:pt x="2163046" y="317800"/>
                  <a:pt x="2295970" y="431858"/>
                </a:cubicBezTo>
                <a:lnTo>
                  <a:pt x="2355305" y="488389"/>
                </a:lnTo>
                <a:lnTo>
                  <a:pt x="0" y="488389"/>
                </a:lnTo>
                <a:lnTo>
                  <a:pt x="136773" y="341166"/>
                </a:lnTo>
                <a:cubicBezTo>
                  <a:pt x="197432" y="287686"/>
                  <a:pt x="267562" y="237210"/>
                  <a:pt x="350829" y="189936"/>
                </a:cubicBezTo>
                <a:cubicBezTo>
                  <a:pt x="573595" y="65807"/>
                  <a:pt x="830314" y="4588"/>
                  <a:pt x="1090338" y="2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3" name="Google Shape;53;p12"/>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54" name="Google Shape;54;p12"/>
          <p:cNvSpPr txBox="1"/>
          <p:nvPr>
            <p:ph type="title"/>
          </p:nvPr>
        </p:nvSpPr>
        <p:spPr>
          <a:xfrm>
            <a:off x="5435600" y="914400"/>
            <a:ext cx="5843100" cy="3822300"/>
          </a:xfrm>
          <a:prstGeom prst="rect">
            <a:avLst/>
          </a:prstGeom>
          <a:noFill/>
          <a:ln>
            <a:noFill/>
          </a:ln>
        </p:spPr>
        <p:txBody>
          <a:bodyPr anchorCtr="0" anchor="b" bIns="45700" lIns="0" spcFirstLastPara="1" rIns="0" wrap="square" tIns="45700">
            <a:noAutofit/>
          </a:bodyPr>
          <a:lstStyle>
            <a:lvl1pPr lvl="0" algn="l">
              <a:lnSpc>
                <a:spcPct val="75000"/>
              </a:lnSpc>
              <a:spcBef>
                <a:spcPts val="0"/>
              </a:spcBef>
              <a:spcAft>
                <a:spcPts val="0"/>
              </a:spcAft>
              <a:buClr>
                <a:schemeClr val="dk1"/>
              </a:buClr>
              <a:buSzPts val="5400"/>
              <a:buFont typeface="Century Gothic"/>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2"/>
          <p:cNvSpPr/>
          <p:nvPr>
            <p:ph idx="2" type="pic"/>
          </p:nvPr>
        </p:nvSpPr>
        <p:spPr>
          <a:xfrm>
            <a:off x="0" y="0"/>
            <a:ext cx="4943400" cy="6858000"/>
          </a:xfrm>
          <a:prstGeom prst="rect">
            <a:avLst/>
          </a:prstGeom>
          <a:noFill/>
          <a:ln>
            <a:noFill/>
          </a:ln>
        </p:spPr>
      </p:sp>
      <p:sp>
        <p:nvSpPr>
          <p:cNvPr id="56" name="Google Shape;56;p12"/>
          <p:cNvSpPr txBox="1"/>
          <p:nvPr>
            <p:ph idx="1" type="body"/>
          </p:nvPr>
        </p:nvSpPr>
        <p:spPr>
          <a:xfrm>
            <a:off x="5435600" y="4956902"/>
            <a:ext cx="5718900" cy="17457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400"/>
              <a:buNone/>
              <a:defRPr sz="2400"/>
            </a:lvl1pPr>
            <a:lvl2pPr indent="-228600" lvl="1" marL="914400" algn="l">
              <a:lnSpc>
                <a:spcPct val="100000"/>
              </a:lnSpc>
              <a:spcBef>
                <a:spcPts val="1200"/>
              </a:spcBef>
              <a:spcAft>
                <a:spcPts val="0"/>
              </a:spcAft>
              <a:buClr>
                <a:schemeClr val="dk1"/>
              </a:buClr>
              <a:buSzPts val="2000"/>
              <a:buNone/>
              <a:defRPr sz="2000"/>
            </a:lvl2pPr>
            <a:lvl3pPr indent="-228600" lvl="2" marL="1371600" algn="l">
              <a:lnSpc>
                <a:spcPct val="100000"/>
              </a:lnSpc>
              <a:spcBef>
                <a:spcPts val="1200"/>
              </a:spcBef>
              <a:spcAft>
                <a:spcPts val="0"/>
              </a:spcAft>
              <a:buClr>
                <a:schemeClr val="dk1"/>
              </a:buClr>
              <a:buSzPts val="1800"/>
              <a:buNone/>
              <a:defRPr sz="1800"/>
            </a:lvl3pPr>
            <a:lvl4pPr indent="-228600" lvl="3" marL="1828800" algn="l">
              <a:lnSpc>
                <a:spcPct val="100000"/>
              </a:lnSpc>
              <a:spcBef>
                <a:spcPts val="1200"/>
              </a:spcBef>
              <a:spcAft>
                <a:spcPts val="0"/>
              </a:spcAft>
              <a:buClr>
                <a:schemeClr val="dk1"/>
              </a:buClr>
              <a:buSzPts val="1600"/>
              <a:buNone/>
              <a:defRPr sz="1600"/>
            </a:lvl4pPr>
            <a:lvl5pPr indent="-228600" lvl="4" marL="2286000" algn="l">
              <a:lnSpc>
                <a:spcPct val="100000"/>
              </a:lnSpc>
              <a:spcBef>
                <a:spcPts val="1200"/>
              </a:spcBef>
              <a:spcAft>
                <a:spcPts val="0"/>
              </a:spcAft>
              <a:buClr>
                <a:schemeClr val="dk1"/>
              </a:buClr>
              <a:buSzPts val="1600"/>
              <a:buNone/>
              <a:defRPr sz="16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7" name="Google Shape;57;p12"/>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2"/>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Two Columns 1">
    <p:bg>
      <p:bgPr>
        <a:solidFill>
          <a:schemeClr val="lt1"/>
        </a:solidFill>
      </p:bgPr>
    </p:bg>
    <p:spTree>
      <p:nvGrpSpPr>
        <p:cNvPr id="59" name="Shape 59"/>
        <p:cNvGrpSpPr/>
        <p:nvPr/>
      </p:nvGrpSpPr>
      <p:grpSpPr>
        <a:xfrm>
          <a:off x="0" y="0"/>
          <a:ext cx="0" cy="0"/>
          <a:chOff x="0" y="0"/>
          <a:chExt cx="0" cy="0"/>
        </a:xfrm>
      </p:grpSpPr>
      <p:sp>
        <p:nvSpPr>
          <p:cNvPr id="60" name="Google Shape;60;p13"/>
          <p:cNvSpPr/>
          <p:nvPr/>
        </p:nvSpPr>
        <p:spPr>
          <a:xfrm flipH="1" rot="5400000">
            <a:off x="1387803" y="4555795"/>
            <a:ext cx="914401" cy="3690008"/>
          </a:xfrm>
          <a:custGeom>
            <a:rect b="b" l="l" r="r" t="t"/>
            <a:pathLst>
              <a:path extrusionOk="0" h="3690008" w="914401">
                <a:moveTo>
                  <a:pt x="914393" y="1625548"/>
                </a:moveTo>
                <a:cubicBezTo>
                  <a:pt x="911641" y="1092628"/>
                  <a:pt x="614720" y="555054"/>
                  <a:pt x="200040" y="164703"/>
                </a:cubicBezTo>
                <a:lnTo>
                  <a:pt x="0" y="0"/>
                </a:lnTo>
                <a:lnTo>
                  <a:pt x="0" y="3690008"/>
                </a:lnTo>
                <a:lnTo>
                  <a:pt x="684950" y="3690008"/>
                </a:lnTo>
                <a:lnTo>
                  <a:pt x="683046" y="3683775"/>
                </a:lnTo>
                <a:cubicBezTo>
                  <a:pt x="661881" y="3627679"/>
                  <a:pt x="637060" y="3572811"/>
                  <a:pt x="608736" y="3519687"/>
                </a:cubicBezTo>
                <a:cubicBezTo>
                  <a:pt x="471578" y="3263358"/>
                  <a:pt x="246982" y="3154469"/>
                  <a:pt x="353078" y="2837178"/>
                </a:cubicBezTo>
                <a:cubicBezTo>
                  <a:pt x="503567" y="2394592"/>
                  <a:pt x="916615" y="2140445"/>
                  <a:pt x="914393" y="162554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cxnSp>
        <p:nvCxnSpPr>
          <p:cNvPr id="61" name="Google Shape;61;p13"/>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62" name="Google Shape;62;p13"/>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13"/>
          <p:cNvSpPr txBox="1"/>
          <p:nvPr>
            <p:ph type="title"/>
          </p:nvPr>
        </p:nvSpPr>
        <p:spPr>
          <a:xfrm>
            <a:off x="699372" y="536984"/>
            <a:ext cx="4987500" cy="17946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3"/>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3"/>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13"/>
          <p:cNvSpPr txBox="1"/>
          <p:nvPr>
            <p:ph idx="1" type="body"/>
          </p:nvPr>
        </p:nvSpPr>
        <p:spPr>
          <a:xfrm>
            <a:off x="696488" y="2377875"/>
            <a:ext cx="3536100" cy="3565800"/>
          </a:xfrm>
          <a:prstGeom prst="rect">
            <a:avLst/>
          </a:prstGeom>
          <a:noFill/>
          <a:ln>
            <a:noFill/>
          </a:ln>
        </p:spPr>
        <p:txBody>
          <a:bodyPr anchorCtr="0" anchor="t" bIns="45700" lIns="0" spcFirstLastPara="1" rIns="91425" wrap="square" tIns="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1000"/>
              </a:spcBef>
              <a:spcAft>
                <a:spcPts val="0"/>
              </a:spcAft>
              <a:buClr>
                <a:schemeClr val="dk1"/>
              </a:buClr>
              <a:buSzPts val="1800"/>
              <a:buChar char="•"/>
              <a:defRPr sz="1800"/>
            </a:lvl2pPr>
            <a:lvl3pPr indent="-330200" lvl="2" marL="1371600" algn="l">
              <a:lnSpc>
                <a:spcPct val="90000"/>
              </a:lnSpc>
              <a:spcBef>
                <a:spcPts val="1000"/>
              </a:spcBef>
              <a:spcAft>
                <a:spcPts val="0"/>
              </a:spcAft>
              <a:buClr>
                <a:schemeClr val="dk1"/>
              </a:buClr>
              <a:buSzPts val="1600"/>
              <a:buChar char="•"/>
              <a:defRPr sz="1600"/>
            </a:lvl3pPr>
            <a:lvl4pPr indent="-317500" lvl="3" marL="1828800" algn="l">
              <a:lnSpc>
                <a:spcPct val="90000"/>
              </a:lnSpc>
              <a:spcBef>
                <a:spcPts val="1000"/>
              </a:spcBef>
              <a:spcAft>
                <a:spcPts val="0"/>
              </a:spcAft>
              <a:buClr>
                <a:schemeClr val="dk1"/>
              </a:buClr>
              <a:buSzPts val="1400"/>
              <a:buChar char="•"/>
              <a:defRPr sz="1400"/>
            </a:lvl4pPr>
            <a:lvl5pPr indent="-317500" lvl="4" marL="2286000" algn="l">
              <a:lnSpc>
                <a:spcPct val="90000"/>
              </a:lnSpc>
              <a:spcBef>
                <a:spcPts val="10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7" name="Google Shape;67;p13"/>
          <p:cNvSpPr txBox="1"/>
          <p:nvPr>
            <p:ph idx="2" type="body"/>
          </p:nvPr>
        </p:nvSpPr>
        <p:spPr>
          <a:xfrm>
            <a:off x="4673599" y="2377875"/>
            <a:ext cx="6816600" cy="378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b="1" sz="2000"/>
            </a:lvl1pPr>
            <a:lvl2pPr indent="-228600" lvl="1" marL="914400" algn="l">
              <a:lnSpc>
                <a:spcPct val="90000"/>
              </a:lnSpc>
              <a:spcBef>
                <a:spcPts val="500"/>
              </a:spcBef>
              <a:spcAft>
                <a:spcPts val="0"/>
              </a:spcAft>
              <a:buClr>
                <a:schemeClr val="dk1"/>
              </a:buClr>
              <a:buSzPts val="1800"/>
              <a:buNone/>
              <a:defRPr b="1" sz="1800"/>
            </a:lvl2pPr>
            <a:lvl3pPr indent="-228600" lvl="2" marL="1371600" algn="l">
              <a:lnSpc>
                <a:spcPct val="90000"/>
              </a:lnSpc>
              <a:spcBef>
                <a:spcPts val="500"/>
              </a:spcBef>
              <a:spcAft>
                <a:spcPts val="0"/>
              </a:spcAft>
              <a:buClr>
                <a:schemeClr val="dk1"/>
              </a:buClr>
              <a:buSzPts val="1600"/>
              <a:buNone/>
              <a:defRPr b="1" sz="1600"/>
            </a:lvl3pPr>
            <a:lvl4pPr indent="-228600" lvl="3" marL="1828800" algn="l">
              <a:lnSpc>
                <a:spcPct val="90000"/>
              </a:lnSpc>
              <a:spcBef>
                <a:spcPts val="500"/>
              </a:spcBef>
              <a:spcAft>
                <a:spcPts val="0"/>
              </a:spcAft>
              <a:buClr>
                <a:schemeClr val="dk1"/>
              </a:buClr>
              <a:buSzPts val="1400"/>
              <a:buNone/>
              <a:defRPr b="1" sz="1400"/>
            </a:lvl4pPr>
            <a:lvl5pPr indent="-228600" lvl="4" marL="2286000" algn="l">
              <a:lnSpc>
                <a:spcPct val="90000"/>
              </a:lnSpc>
              <a:spcBef>
                <a:spcPts val="500"/>
              </a:spcBef>
              <a:spcAft>
                <a:spcPts val="0"/>
              </a:spcAft>
              <a:buClr>
                <a:schemeClr val="dk1"/>
              </a:buClr>
              <a:buSzPts val="1400"/>
              <a:buNone/>
              <a:defRPr b="1"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8" name="Google Shape;68;p13"/>
          <p:cNvSpPr txBox="1"/>
          <p:nvPr>
            <p:ph idx="3" type="body"/>
          </p:nvPr>
        </p:nvSpPr>
        <p:spPr>
          <a:xfrm>
            <a:off x="4673600" y="2755900"/>
            <a:ext cx="6816600" cy="31878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Image 1">
  <p:cSld name="Title + Content + Image 1">
    <p:bg>
      <p:bgPr>
        <a:solidFill>
          <a:schemeClr val="lt1"/>
        </a:solidFill>
      </p:bgPr>
    </p:bg>
    <p:spTree>
      <p:nvGrpSpPr>
        <p:cNvPr id="69" name="Shape 69"/>
        <p:cNvGrpSpPr/>
        <p:nvPr/>
      </p:nvGrpSpPr>
      <p:grpSpPr>
        <a:xfrm>
          <a:off x="0" y="0"/>
          <a:ext cx="0" cy="0"/>
          <a:chOff x="0" y="0"/>
          <a:chExt cx="0" cy="0"/>
        </a:xfrm>
      </p:grpSpPr>
      <p:cxnSp>
        <p:nvCxnSpPr>
          <p:cNvPr id="70" name="Google Shape;70;p14"/>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71" name="Google Shape;71;p14"/>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72" name="Google Shape;72;p14"/>
          <p:cNvSpPr txBox="1"/>
          <p:nvPr>
            <p:ph type="title"/>
          </p:nvPr>
        </p:nvSpPr>
        <p:spPr>
          <a:xfrm>
            <a:off x="699372" y="536984"/>
            <a:ext cx="4987500" cy="17946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14"/>
          <p:cNvSpPr txBox="1"/>
          <p:nvPr>
            <p:ph idx="1" type="body"/>
          </p:nvPr>
        </p:nvSpPr>
        <p:spPr>
          <a:xfrm>
            <a:off x="696488" y="2377875"/>
            <a:ext cx="4627800" cy="4300800"/>
          </a:xfrm>
          <a:prstGeom prst="rect">
            <a:avLst/>
          </a:prstGeom>
          <a:noFill/>
          <a:ln>
            <a:noFill/>
          </a:ln>
        </p:spPr>
        <p:txBody>
          <a:bodyPr anchorCtr="0" anchor="t" bIns="45700" lIns="0" spcFirstLastPara="1" rIns="91425" wrap="square" tIns="0">
            <a:normAutofit/>
          </a:bodyPr>
          <a:lstStyle>
            <a:lvl1pPr indent="-355600" lvl="0" marL="457200" algn="l">
              <a:lnSpc>
                <a:spcPct val="100000"/>
              </a:lnSpc>
              <a:spcBef>
                <a:spcPts val="600"/>
              </a:spcBef>
              <a:spcAft>
                <a:spcPts val="0"/>
              </a:spcAft>
              <a:buClr>
                <a:schemeClr val="dk1"/>
              </a:buClr>
              <a:buSzPts val="2000"/>
              <a:buChar char="•"/>
              <a:defRPr sz="2000"/>
            </a:lvl1pPr>
            <a:lvl2pPr indent="-342900" lvl="1" marL="914400" algn="l">
              <a:lnSpc>
                <a:spcPct val="100000"/>
              </a:lnSpc>
              <a:spcBef>
                <a:spcPts val="1200"/>
              </a:spcBef>
              <a:spcAft>
                <a:spcPts val="0"/>
              </a:spcAft>
              <a:buClr>
                <a:schemeClr val="dk1"/>
              </a:buClr>
              <a:buSzPts val="1800"/>
              <a:buChar char="•"/>
              <a:defRPr sz="1800"/>
            </a:lvl2pPr>
            <a:lvl3pPr indent="-330200" lvl="2" marL="1371600" algn="l">
              <a:lnSpc>
                <a:spcPct val="100000"/>
              </a:lnSpc>
              <a:spcBef>
                <a:spcPts val="1200"/>
              </a:spcBef>
              <a:spcAft>
                <a:spcPts val="0"/>
              </a:spcAft>
              <a:buClr>
                <a:schemeClr val="dk1"/>
              </a:buClr>
              <a:buSzPts val="1600"/>
              <a:buChar char="•"/>
              <a:defRPr sz="1600"/>
            </a:lvl3pPr>
            <a:lvl4pPr indent="-317500" lvl="3" marL="1828800" algn="l">
              <a:lnSpc>
                <a:spcPct val="100000"/>
              </a:lnSpc>
              <a:spcBef>
                <a:spcPts val="1200"/>
              </a:spcBef>
              <a:spcAft>
                <a:spcPts val="0"/>
              </a:spcAft>
              <a:buClr>
                <a:schemeClr val="dk1"/>
              </a:buClr>
              <a:buSzPts val="1400"/>
              <a:buChar char="•"/>
              <a:defRPr sz="1400"/>
            </a:lvl4pPr>
            <a:lvl5pPr indent="-317500" lvl="4" marL="2286000" algn="l">
              <a:lnSpc>
                <a:spcPct val="10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14"/>
          <p:cNvSpPr/>
          <p:nvPr>
            <p:ph idx="2" type="pic"/>
          </p:nvPr>
        </p:nvSpPr>
        <p:spPr>
          <a:xfrm>
            <a:off x="5916613" y="835025"/>
            <a:ext cx="5575200" cy="60309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Two Columns 2">
    <p:bg>
      <p:bgPr>
        <a:solidFill>
          <a:schemeClr val="lt1"/>
        </a:solidFill>
      </p:bgPr>
    </p:bg>
    <p:spTree>
      <p:nvGrpSpPr>
        <p:cNvPr id="77" name="Shape 77"/>
        <p:cNvGrpSpPr/>
        <p:nvPr/>
      </p:nvGrpSpPr>
      <p:grpSpPr>
        <a:xfrm>
          <a:off x="0" y="0"/>
          <a:ext cx="0" cy="0"/>
          <a:chOff x="0" y="0"/>
          <a:chExt cx="0" cy="0"/>
        </a:xfrm>
      </p:grpSpPr>
      <p:sp>
        <p:nvSpPr>
          <p:cNvPr id="78" name="Google Shape;78;p15"/>
          <p:cNvSpPr/>
          <p:nvPr/>
        </p:nvSpPr>
        <p:spPr>
          <a:xfrm>
            <a:off x="0" y="3810562"/>
            <a:ext cx="3505512" cy="3047438"/>
          </a:xfrm>
          <a:custGeom>
            <a:rect b="b" l="l" r="r" t="t"/>
            <a:pathLst>
              <a:path extrusionOk="0" h="3047438" w="3505512">
                <a:moveTo>
                  <a:pt x="140070" y="84"/>
                </a:moveTo>
                <a:cubicBezTo>
                  <a:pt x="214085" y="1007"/>
                  <a:pt x="293301" y="9629"/>
                  <a:pt x="378078" y="26868"/>
                </a:cubicBezTo>
                <a:cubicBezTo>
                  <a:pt x="1074806" y="168586"/>
                  <a:pt x="1202169" y="1352919"/>
                  <a:pt x="2124544" y="1868599"/>
                </a:cubicBezTo>
                <a:cubicBezTo>
                  <a:pt x="2570800" y="2118122"/>
                  <a:pt x="3301901" y="2354692"/>
                  <a:pt x="3503411" y="3038169"/>
                </a:cubicBezTo>
                <a:lnTo>
                  <a:pt x="3505512" y="3047438"/>
                </a:lnTo>
                <a:lnTo>
                  <a:pt x="0" y="3047438"/>
                </a:lnTo>
                <a:lnTo>
                  <a:pt x="0" y="9356"/>
                </a:lnTo>
                <a:lnTo>
                  <a:pt x="32906" y="4358"/>
                </a:lnTo>
                <a:cubicBezTo>
                  <a:pt x="67357" y="1086"/>
                  <a:pt x="103063" y="-377"/>
                  <a:pt x="140070" y="84"/>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cxnSp>
        <p:nvCxnSpPr>
          <p:cNvPr id="79" name="Google Shape;79;p15"/>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80" name="Google Shape;80;p15"/>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15"/>
          <p:cNvSpPr txBox="1"/>
          <p:nvPr>
            <p:ph type="title"/>
          </p:nvPr>
        </p:nvSpPr>
        <p:spPr>
          <a:xfrm>
            <a:off x="699372" y="536983"/>
            <a:ext cx="4987500" cy="18063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5"/>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5"/>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15"/>
          <p:cNvSpPr txBox="1"/>
          <p:nvPr>
            <p:ph idx="1" type="body"/>
          </p:nvPr>
        </p:nvSpPr>
        <p:spPr>
          <a:xfrm>
            <a:off x="2687333" y="2377871"/>
            <a:ext cx="4292100" cy="4359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5" name="Google Shape;85;p15"/>
          <p:cNvSpPr txBox="1"/>
          <p:nvPr>
            <p:ph idx="2" type="body"/>
          </p:nvPr>
        </p:nvSpPr>
        <p:spPr>
          <a:xfrm>
            <a:off x="7318385" y="2377871"/>
            <a:ext cx="4172700" cy="4359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Table">
  <p:cSld name="Title + Content + Table">
    <p:bg>
      <p:bgPr>
        <a:solidFill>
          <a:schemeClr val="lt1"/>
        </a:solidFill>
      </p:bgPr>
    </p:bg>
    <p:spTree>
      <p:nvGrpSpPr>
        <p:cNvPr id="86" name="Shape 86"/>
        <p:cNvGrpSpPr/>
        <p:nvPr/>
      </p:nvGrpSpPr>
      <p:grpSpPr>
        <a:xfrm>
          <a:off x="0" y="0"/>
          <a:ext cx="0" cy="0"/>
          <a:chOff x="0" y="0"/>
          <a:chExt cx="0" cy="0"/>
        </a:xfrm>
      </p:grpSpPr>
      <p:cxnSp>
        <p:nvCxnSpPr>
          <p:cNvPr id="87" name="Google Shape;87;p16"/>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88" name="Google Shape;88;p16"/>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16"/>
          <p:cNvSpPr txBox="1"/>
          <p:nvPr>
            <p:ph type="title"/>
          </p:nvPr>
        </p:nvSpPr>
        <p:spPr>
          <a:xfrm>
            <a:off x="699372" y="536983"/>
            <a:ext cx="4987500" cy="18063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6"/>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6"/>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6"/>
          <p:cNvSpPr txBox="1"/>
          <p:nvPr>
            <p:ph idx="1" type="body"/>
          </p:nvPr>
        </p:nvSpPr>
        <p:spPr>
          <a:xfrm>
            <a:off x="680323" y="2366300"/>
            <a:ext cx="3536100" cy="35883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Font typeface="Arial"/>
              <a:buChar char="•"/>
              <a:defRPr sz="2000"/>
            </a:lvl1pPr>
            <a:lvl2pPr indent="-342900" lvl="1" marL="914400" algn="l">
              <a:lnSpc>
                <a:spcPct val="90000"/>
              </a:lnSpc>
              <a:spcBef>
                <a:spcPts val="1000"/>
              </a:spcBef>
              <a:spcAft>
                <a:spcPts val="0"/>
              </a:spcAft>
              <a:buClr>
                <a:schemeClr val="dk1"/>
              </a:buClr>
              <a:buSzPts val="1800"/>
              <a:buFont typeface="Arial"/>
              <a:buChar char="•"/>
              <a:defRPr sz="1800"/>
            </a:lvl2pPr>
            <a:lvl3pPr indent="-330200" lvl="2" marL="1371600" algn="l">
              <a:lnSpc>
                <a:spcPct val="90000"/>
              </a:lnSpc>
              <a:spcBef>
                <a:spcPts val="1000"/>
              </a:spcBef>
              <a:spcAft>
                <a:spcPts val="0"/>
              </a:spcAft>
              <a:buClr>
                <a:schemeClr val="dk1"/>
              </a:buClr>
              <a:buSzPts val="1600"/>
              <a:buFont typeface="Arial"/>
              <a:buChar char="•"/>
              <a:defRPr sz="1600"/>
            </a:lvl3pPr>
            <a:lvl4pPr indent="-317500" lvl="3" marL="1828800" algn="l">
              <a:lnSpc>
                <a:spcPct val="90000"/>
              </a:lnSpc>
              <a:spcBef>
                <a:spcPts val="1000"/>
              </a:spcBef>
              <a:spcAft>
                <a:spcPts val="0"/>
              </a:spcAft>
              <a:buClr>
                <a:schemeClr val="dk1"/>
              </a:buClr>
              <a:buSzPts val="1400"/>
              <a:buFont typeface="Arial"/>
              <a:buChar char="•"/>
              <a:defRPr sz="1400"/>
            </a:lvl4pPr>
            <a:lvl5pPr indent="-317500" lvl="4" marL="2286000" algn="l">
              <a:lnSpc>
                <a:spcPct val="90000"/>
              </a:lnSpc>
              <a:spcBef>
                <a:spcPts val="1000"/>
              </a:spcBef>
              <a:spcAft>
                <a:spcPts val="0"/>
              </a:spcAft>
              <a:buClr>
                <a:schemeClr val="dk1"/>
              </a:buClr>
              <a:buSzPts val="1400"/>
              <a:buFont typeface="Arial"/>
              <a:buChar char="•"/>
              <a:defRPr sz="14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93" name="Shape 93"/>
        <p:cNvGrpSpPr/>
        <p:nvPr/>
      </p:nvGrpSpPr>
      <p:grpSpPr>
        <a:xfrm>
          <a:off x="0" y="0"/>
          <a:ext cx="0" cy="0"/>
          <a:chOff x="0" y="0"/>
          <a:chExt cx="0" cy="0"/>
        </a:xfrm>
      </p:grpSpPr>
      <p:cxnSp>
        <p:nvCxnSpPr>
          <p:cNvPr id="94" name="Google Shape;94;p17"/>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95" name="Google Shape;95;p17"/>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17"/>
          <p:cNvSpPr txBox="1"/>
          <p:nvPr>
            <p:ph type="title"/>
          </p:nvPr>
        </p:nvSpPr>
        <p:spPr>
          <a:xfrm>
            <a:off x="699372" y="536983"/>
            <a:ext cx="4987500" cy="18063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7"/>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7"/>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bg>
      <p:bgPr>
        <a:solidFill>
          <a:srgbClr val="FCE4EA"/>
        </a:solidFill>
      </p:bgPr>
    </p:bg>
    <p:spTree>
      <p:nvGrpSpPr>
        <p:cNvPr id="99" name="Shape 99"/>
        <p:cNvGrpSpPr/>
        <p:nvPr/>
      </p:nvGrpSpPr>
      <p:grpSpPr>
        <a:xfrm>
          <a:off x="0" y="0"/>
          <a:ext cx="0" cy="0"/>
          <a:chOff x="0" y="0"/>
          <a:chExt cx="0" cy="0"/>
        </a:xfrm>
      </p:grpSpPr>
      <p:sp>
        <p:nvSpPr>
          <p:cNvPr id="100" name="Google Shape;100;p18"/>
          <p:cNvSpPr/>
          <p:nvPr/>
        </p:nvSpPr>
        <p:spPr>
          <a:xfrm rot="-5400000">
            <a:off x="45460" y="5586515"/>
            <a:ext cx="1218019" cy="1324951"/>
          </a:xfrm>
          <a:custGeom>
            <a:rect b="b" l="l" r="r" t="t"/>
            <a:pathLst>
              <a:path extrusionOk="0" h="1324951" w="1218019">
                <a:moveTo>
                  <a:pt x="1218019" y="0"/>
                </a:moveTo>
                <a:lnTo>
                  <a:pt x="0" y="0"/>
                </a:lnTo>
                <a:lnTo>
                  <a:pt x="0" y="1324951"/>
                </a:lnTo>
                <a:lnTo>
                  <a:pt x="44025" y="1308837"/>
                </a:lnTo>
                <a:cubicBezTo>
                  <a:pt x="600182" y="1073602"/>
                  <a:pt x="1031901" y="601768"/>
                  <a:pt x="1213001" y="19515"/>
                </a:cubicBezTo>
                <a:close/>
              </a:path>
            </a:pathLst>
          </a:custGeom>
          <a:solidFill>
            <a:srgbClr val="F9CBD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1" name="Google Shape;101;p18"/>
          <p:cNvSpPr/>
          <p:nvPr/>
        </p:nvSpPr>
        <p:spPr>
          <a:xfrm flipH="1" rot="5400000">
            <a:off x="442520" y="-450526"/>
            <a:ext cx="1018073" cy="1919124"/>
          </a:xfrm>
          <a:custGeom>
            <a:rect b="b" l="l" r="r" t="t"/>
            <a:pathLst>
              <a:path extrusionOk="0" h="1919124" w="1018073">
                <a:moveTo>
                  <a:pt x="1018073" y="1919124"/>
                </a:moveTo>
                <a:lnTo>
                  <a:pt x="1018073" y="0"/>
                </a:lnTo>
                <a:lnTo>
                  <a:pt x="860680" y="92033"/>
                </a:lnTo>
                <a:cubicBezTo>
                  <a:pt x="468017" y="356206"/>
                  <a:pt x="159674" y="774823"/>
                  <a:pt x="45685" y="1217247"/>
                </a:cubicBezTo>
                <a:cubicBezTo>
                  <a:pt x="-9143" y="1412111"/>
                  <a:pt x="-14542" y="1615180"/>
                  <a:pt x="29068" y="1808525"/>
                </a:cubicBezTo>
                <a:lnTo>
                  <a:pt x="59967" y="1919124"/>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2" name="Google Shape;102;p18"/>
          <p:cNvSpPr/>
          <p:nvPr/>
        </p:nvSpPr>
        <p:spPr>
          <a:xfrm rot="10800000">
            <a:off x="10243539" y="-1"/>
            <a:ext cx="1948461" cy="1453974"/>
          </a:xfrm>
          <a:custGeom>
            <a:rect b="b" l="l" r="r" t="t"/>
            <a:pathLst>
              <a:path extrusionOk="0" h="1453974" w="1948461">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18"/>
          <p:cNvSpPr/>
          <p:nvPr/>
        </p:nvSpPr>
        <p:spPr>
          <a:xfrm rot="10800000">
            <a:off x="7248231" y="5855618"/>
            <a:ext cx="4943770" cy="1002382"/>
          </a:xfrm>
          <a:custGeom>
            <a:rect b="b" l="l" r="r" t="t"/>
            <a:pathLst>
              <a:path extrusionOk="0" h="1002382" w="4943770">
                <a:moveTo>
                  <a:pt x="0" y="0"/>
                </a:moveTo>
                <a:lnTo>
                  <a:pt x="4943770" y="0"/>
                </a:lnTo>
                <a:lnTo>
                  <a:pt x="4906928" y="44581"/>
                </a:lnTo>
                <a:cubicBezTo>
                  <a:pt x="4311119" y="665259"/>
                  <a:pt x="3275391" y="550750"/>
                  <a:pt x="2525640" y="241508"/>
                </a:cubicBezTo>
                <a:cubicBezTo>
                  <a:pt x="2174456" y="97448"/>
                  <a:pt x="1956229" y="100710"/>
                  <a:pt x="1667268" y="163732"/>
                </a:cubicBezTo>
                <a:cubicBezTo>
                  <a:pt x="1546867" y="189990"/>
                  <a:pt x="1429272" y="233773"/>
                  <a:pt x="1317749" y="293864"/>
                </a:cubicBezTo>
                <a:cubicBezTo>
                  <a:pt x="1050964" y="428937"/>
                  <a:pt x="614633" y="864100"/>
                  <a:pt x="75310" y="989292"/>
                </a:cubicBezTo>
                <a:lnTo>
                  <a:pt x="0" y="1002382"/>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4" name="Google Shape;104;p18"/>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5" name="Google Shape;105;p18"/>
          <p:cNvSpPr txBox="1"/>
          <p:nvPr>
            <p:ph type="title"/>
          </p:nvPr>
        </p:nvSpPr>
        <p:spPr>
          <a:xfrm>
            <a:off x="5408762" y="914400"/>
            <a:ext cx="5870400" cy="5029200"/>
          </a:xfrm>
          <a:prstGeom prst="rect">
            <a:avLst/>
          </a:prstGeom>
          <a:noFill/>
          <a:ln>
            <a:noFill/>
          </a:ln>
        </p:spPr>
        <p:txBody>
          <a:bodyPr anchorCtr="0" anchor="ctr" bIns="45700" lIns="0" spcFirstLastPara="1" rIns="0" wrap="square" tIns="45700">
            <a:noAutofit/>
          </a:bodyPr>
          <a:lstStyle>
            <a:lvl1pPr lvl="0" algn="l">
              <a:lnSpc>
                <a:spcPct val="75000"/>
              </a:lnSpc>
              <a:spcBef>
                <a:spcPts val="0"/>
              </a:spcBef>
              <a:spcAft>
                <a:spcPts val="0"/>
              </a:spcAft>
              <a:buClr>
                <a:schemeClr val="dk1"/>
              </a:buClr>
              <a:buSzPts val="5400"/>
              <a:buFont typeface="Century Gothic"/>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8"/>
          <p:cNvSpPr/>
          <p:nvPr>
            <p:ph idx="2" type="pic"/>
          </p:nvPr>
        </p:nvSpPr>
        <p:spPr>
          <a:xfrm>
            <a:off x="0" y="0"/>
            <a:ext cx="4943400" cy="6858000"/>
          </a:xfrm>
          <a:prstGeom prst="rect">
            <a:avLst/>
          </a:prstGeom>
          <a:noFill/>
          <a:ln>
            <a:noFill/>
          </a:ln>
        </p:spPr>
      </p:sp>
      <p:sp>
        <p:nvSpPr>
          <p:cNvPr id="107" name="Google Shape;107;p18"/>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8"/>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3">
  <p:cSld name="Two Columns 3">
    <p:bg>
      <p:bgPr>
        <a:solidFill>
          <a:schemeClr val="lt1"/>
        </a:solidFill>
      </p:bgPr>
    </p:bg>
    <p:spTree>
      <p:nvGrpSpPr>
        <p:cNvPr id="109" name="Shape 109"/>
        <p:cNvGrpSpPr/>
        <p:nvPr/>
      </p:nvGrpSpPr>
      <p:grpSpPr>
        <a:xfrm>
          <a:off x="0" y="0"/>
          <a:ext cx="0" cy="0"/>
          <a:chOff x="0" y="0"/>
          <a:chExt cx="0" cy="0"/>
        </a:xfrm>
      </p:grpSpPr>
      <p:sp>
        <p:nvSpPr>
          <p:cNvPr id="110" name="Google Shape;110;p19"/>
          <p:cNvSpPr/>
          <p:nvPr/>
        </p:nvSpPr>
        <p:spPr>
          <a:xfrm>
            <a:off x="8906392" y="4720062"/>
            <a:ext cx="3285608" cy="2137938"/>
          </a:xfrm>
          <a:custGeom>
            <a:rect b="b" l="l" r="r" t="t"/>
            <a:pathLst>
              <a:path extrusionOk="0" h="2137938" w="3285608">
                <a:moveTo>
                  <a:pt x="3285608" y="0"/>
                </a:moveTo>
                <a:lnTo>
                  <a:pt x="3285608" y="2137938"/>
                </a:lnTo>
                <a:lnTo>
                  <a:pt x="0" y="2137938"/>
                </a:lnTo>
                <a:lnTo>
                  <a:pt x="53213" y="2070398"/>
                </a:lnTo>
                <a:cubicBezTo>
                  <a:pt x="428518" y="1649846"/>
                  <a:pt x="1048414" y="1562150"/>
                  <a:pt x="1464698" y="1425184"/>
                </a:cubicBezTo>
                <a:cubicBezTo>
                  <a:pt x="2343037" y="1136242"/>
                  <a:pt x="2721555" y="228637"/>
                  <a:pt x="3278751" y="210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cxnSp>
        <p:nvCxnSpPr>
          <p:cNvPr id="111" name="Google Shape;111;p19"/>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112" name="Google Shape;112;p19"/>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13" name="Google Shape;113;p19"/>
          <p:cNvSpPr txBox="1"/>
          <p:nvPr>
            <p:ph type="title"/>
          </p:nvPr>
        </p:nvSpPr>
        <p:spPr>
          <a:xfrm>
            <a:off x="699372" y="536983"/>
            <a:ext cx="4987500" cy="18063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9"/>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9"/>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116" name="Google Shape;116;p19"/>
          <p:cNvSpPr txBox="1"/>
          <p:nvPr>
            <p:ph idx="1" type="body"/>
          </p:nvPr>
        </p:nvSpPr>
        <p:spPr>
          <a:xfrm>
            <a:off x="703472" y="2377871"/>
            <a:ext cx="6814500" cy="43593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600"/>
              </a:spcBef>
              <a:spcAft>
                <a:spcPts val="0"/>
              </a:spcAft>
              <a:buClr>
                <a:schemeClr val="dk1"/>
              </a:buClr>
              <a:buSzPts val="2000"/>
              <a:buFont typeface="Century Gothic"/>
              <a:buAutoNum type="arabicPeriod"/>
              <a:defRPr sz="2000"/>
            </a:lvl1pPr>
            <a:lvl2pPr indent="-342900" lvl="1" marL="914400" algn="l">
              <a:lnSpc>
                <a:spcPct val="100000"/>
              </a:lnSpc>
              <a:spcBef>
                <a:spcPts val="1200"/>
              </a:spcBef>
              <a:spcAft>
                <a:spcPts val="0"/>
              </a:spcAft>
              <a:buClr>
                <a:schemeClr val="dk1"/>
              </a:buClr>
              <a:buSzPts val="1800"/>
              <a:buFont typeface="Century Gothic"/>
              <a:buAutoNum type="arabicPeriod"/>
              <a:defRPr sz="1800"/>
            </a:lvl2pPr>
            <a:lvl3pPr indent="-330200" lvl="2" marL="1371600" algn="l">
              <a:lnSpc>
                <a:spcPct val="100000"/>
              </a:lnSpc>
              <a:spcBef>
                <a:spcPts val="1200"/>
              </a:spcBef>
              <a:spcAft>
                <a:spcPts val="0"/>
              </a:spcAft>
              <a:buClr>
                <a:schemeClr val="dk1"/>
              </a:buClr>
              <a:buSzPts val="1600"/>
              <a:buFont typeface="Century Gothic"/>
              <a:buAutoNum type="arabicPeriod"/>
              <a:defRPr sz="1600"/>
            </a:lvl3pPr>
            <a:lvl4pPr indent="-317500" lvl="3" marL="1828800" algn="l">
              <a:lnSpc>
                <a:spcPct val="100000"/>
              </a:lnSpc>
              <a:spcBef>
                <a:spcPts val="1200"/>
              </a:spcBef>
              <a:spcAft>
                <a:spcPts val="0"/>
              </a:spcAft>
              <a:buClr>
                <a:schemeClr val="dk1"/>
              </a:buClr>
              <a:buSzPts val="1400"/>
              <a:buFont typeface="Century Gothic"/>
              <a:buAutoNum type="arabicPeriod"/>
              <a:defRPr sz="1400"/>
            </a:lvl4pPr>
            <a:lvl5pPr indent="-317500" lvl="4" marL="2286000" algn="l">
              <a:lnSpc>
                <a:spcPct val="100000"/>
              </a:lnSpc>
              <a:spcBef>
                <a:spcPts val="1200"/>
              </a:spcBef>
              <a:spcAft>
                <a:spcPts val="0"/>
              </a:spcAft>
              <a:buClr>
                <a:schemeClr val="dk1"/>
              </a:buClr>
              <a:buSzPts val="1400"/>
              <a:buFont typeface="Century Gothic"/>
              <a:buAutoNum type="arabicPeriod"/>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7" name="Google Shape;117;p19"/>
          <p:cNvSpPr txBox="1"/>
          <p:nvPr>
            <p:ph idx="2" type="body"/>
          </p:nvPr>
        </p:nvSpPr>
        <p:spPr>
          <a:xfrm>
            <a:off x="7954195" y="2377871"/>
            <a:ext cx="3840300" cy="4359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accent6"/>
        </a:solidFill>
      </p:bgPr>
    </p:bg>
    <p:spTree>
      <p:nvGrpSpPr>
        <p:cNvPr id="118" name="Shape 118"/>
        <p:cNvGrpSpPr/>
        <p:nvPr/>
      </p:nvGrpSpPr>
      <p:grpSpPr>
        <a:xfrm>
          <a:off x="0" y="0"/>
          <a:ext cx="0" cy="0"/>
          <a:chOff x="0" y="0"/>
          <a:chExt cx="0" cy="0"/>
        </a:xfrm>
      </p:grpSpPr>
      <p:sp>
        <p:nvSpPr>
          <p:cNvPr id="119" name="Google Shape;119;p20"/>
          <p:cNvSpPr/>
          <p:nvPr/>
        </p:nvSpPr>
        <p:spPr>
          <a:xfrm>
            <a:off x="6576005" y="6244034"/>
            <a:ext cx="5128931" cy="613967"/>
          </a:xfrm>
          <a:custGeom>
            <a:rect b="b" l="l" r="r" t="t"/>
            <a:pathLst>
              <a:path extrusionOk="0" h="613967" w="5128931">
                <a:moveTo>
                  <a:pt x="4291965" y="60"/>
                </a:moveTo>
                <a:cubicBezTo>
                  <a:pt x="4425259" y="-1390"/>
                  <a:pt x="4550210" y="23536"/>
                  <a:pt x="4666198" y="89254"/>
                </a:cubicBezTo>
                <a:cubicBezTo>
                  <a:pt x="4891999" y="217207"/>
                  <a:pt x="5029133" y="370815"/>
                  <a:pt x="5101197" y="537690"/>
                </a:cubicBezTo>
                <a:lnTo>
                  <a:pt x="5128931" y="613967"/>
                </a:lnTo>
                <a:lnTo>
                  <a:pt x="0" y="613967"/>
                </a:lnTo>
                <a:lnTo>
                  <a:pt x="15614" y="593375"/>
                </a:lnTo>
                <a:cubicBezTo>
                  <a:pt x="37505" y="566465"/>
                  <a:pt x="59606" y="541212"/>
                  <a:pt x="81739" y="517786"/>
                </a:cubicBezTo>
                <a:cubicBezTo>
                  <a:pt x="726324" y="-164414"/>
                  <a:pt x="1567784" y="212292"/>
                  <a:pt x="2139708" y="331996"/>
                </a:cubicBezTo>
                <a:cubicBezTo>
                  <a:pt x="2980088" y="507931"/>
                  <a:pt x="3714356" y="6344"/>
                  <a:pt x="4291965" y="6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0" name="Google Shape;120;p20"/>
          <p:cNvSpPr/>
          <p:nvPr/>
        </p:nvSpPr>
        <p:spPr>
          <a:xfrm>
            <a:off x="11450906" y="3547173"/>
            <a:ext cx="741094" cy="3164819"/>
          </a:xfrm>
          <a:custGeom>
            <a:rect b="b" l="l" r="r" t="t"/>
            <a:pathLst>
              <a:path extrusionOk="0" h="3164819" w="741094">
                <a:moveTo>
                  <a:pt x="741094" y="0"/>
                </a:moveTo>
                <a:lnTo>
                  <a:pt x="741094" y="3164819"/>
                </a:lnTo>
                <a:lnTo>
                  <a:pt x="696311" y="3128887"/>
                </a:lnTo>
                <a:cubicBezTo>
                  <a:pt x="398216" y="2865259"/>
                  <a:pt x="172941" y="2512853"/>
                  <a:pt x="66029" y="2098526"/>
                </a:cubicBezTo>
                <a:cubicBezTo>
                  <a:pt x="-129976" y="1338929"/>
                  <a:pt x="122879" y="568970"/>
                  <a:pt x="659081" y="692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1" name="Google Shape;121;p20"/>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2" name="Google Shape;122;p20"/>
          <p:cNvSpPr txBox="1"/>
          <p:nvPr>
            <p:ph type="title"/>
          </p:nvPr>
        </p:nvSpPr>
        <p:spPr>
          <a:xfrm>
            <a:off x="914400" y="914400"/>
            <a:ext cx="10360200" cy="3657600"/>
          </a:xfrm>
          <a:prstGeom prst="rect">
            <a:avLst/>
          </a:prstGeom>
          <a:noFill/>
          <a:ln>
            <a:noFill/>
          </a:ln>
        </p:spPr>
        <p:txBody>
          <a:bodyPr anchorCtr="0" anchor="b" bIns="45700" lIns="91425" spcFirstLastPara="1" rIns="91425" wrap="square" tIns="45700">
            <a:noAutofit/>
          </a:bodyPr>
          <a:lstStyle>
            <a:lvl1pPr lvl="0" algn="ctr">
              <a:lnSpc>
                <a:spcPct val="75000"/>
              </a:lnSpc>
              <a:spcBef>
                <a:spcPts val="0"/>
              </a:spcBef>
              <a:spcAft>
                <a:spcPts val="0"/>
              </a:spcAft>
              <a:buClr>
                <a:schemeClr val="dk1"/>
              </a:buClr>
              <a:buSzPts val="5400"/>
              <a:buFont typeface="Century Gothic"/>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0"/>
          <p:cNvSpPr txBox="1"/>
          <p:nvPr>
            <p:ph idx="1" type="body"/>
          </p:nvPr>
        </p:nvSpPr>
        <p:spPr>
          <a:xfrm>
            <a:off x="1630363" y="5006113"/>
            <a:ext cx="8931300" cy="1720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0"/>
              </a:spcBef>
              <a:spcAft>
                <a:spcPts val="0"/>
              </a:spcAft>
              <a:buClr>
                <a:schemeClr val="dk1"/>
              </a:buClr>
              <a:buSzPts val="2400"/>
              <a:buNone/>
              <a:defRPr/>
            </a:lvl1pPr>
            <a:lvl2pPr indent="-228600" lvl="1" marL="914400" algn="ctr">
              <a:lnSpc>
                <a:spcPct val="90000"/>
              </a:lnSpc>
              <a:spcBef>
                <a:spcPts val="0"/>
              </a:spcBef>
              <a:spcAft>
                <a:spcPts val="0"/>
              </a:spcAft>
              <a:buClr>
                <a:schemeClr val="dk1"/>
              </a:buClr>
              <a:buSzPts val="2000"/>
              <a:buNone/>
              <a:defRPr/>
            </a:lvl2pPr>
            <a:lvl3pPr indent="-228600" lvl="2" marL="1371600" algn="ctr">
              <a:lnSpc>
                <a:spcPct val="90000"/>
              </a:lnSpc>
              <a:spcBef>
                <a:spcPts val="0"/>
              </a:spcBef>
              <a:spcAft>
                <a:spcPts val="0"/>
              </a:spcAft>
              <a:buClr>
                <a:schemeClr val="dk1"/>
              </a:buClr>
              <a:buSzPts val="1800"/>
              <a:buNone/>
              <a:defRPr/>
            </a:lvl3pPr>
            <a:lvl4pPr indent="-228600" lvl="3" marL="1828800" algn="ctr">
              <a:lnSpc>
                <a:spcPct val="90000"/>
              </a:lnSpc>
              <a:spcBef>
                <a:spcPts val="0"/>
              </a:spcBef>
              <a:spcAft>
                <a:spcPts val="0"/>
              </a:spcAft>
              <a:buClr>
                <a:schemeClr val="dk1"/>
              </a:buClr>
              <a:buSzPts val="1600"/>
              <a:buNone/>
              <a:defRPr/>
            </a:lvl4pPr>
            <a:lvl5pPr indent="-228600" lvl="4" marL="2286000" algn="ctr">
              <a:lnSpc>
                <a:spcPct val="90000"/>
              </a:lnSpc>
              <a:spcBef>
                <a:spcPts val="0"/>
              </a:spcBef>
              <a:spcAft>
                <a:spcPts val="0"/>
              </a:spcAft>
              <a:buClr>
                <a:schemeClr val="dk1"/>
              </a:buClr>
              <a:buSzPts val="1600"/>
              <a:buNone/>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pic>
        <p:nvPicPr>
          <p:cNvPr id="124" name="Google Shape;124;p20"/>
          <p:cNvPicPr preferRelativeResize="0"/>
          <p:nvPr/>
        </p:nvPicPr>
        <p:blipFill rotWithShape="1">
          <a:blip r:embed="rId2">
            <a:alphaModFix/>
          </a:blip>
          <a:srcRect b="49137" l="61920" r="0" t="0"/>
          <a:stretch/>
        </p:blipFill>
        <p:spPr>
          <a:xfrm>
            <a:off x="-9638" y="3945640"/>
            <a:ext cx="2853725" cy="2938093"/>
          </a:xfrm>
          <a:custGeom>
            <a:rect b="b" l="l" r="r" t="t"/>
            <a:pathLst>
              <a:path extrusionOk="0" h="2938093" w="2853725">
                <a:moveTo>
                  <a:pt x="0" y="0"/>
                </a:moveTo>
                <a:lnTo>
                  <a:pt x="2853725" y="0"/>
                </a:lnTo>
                <a:lnTo>
                  <a:pt x="2853725" y="2938093"/>
                </a:lnTo>
                <a:lnTo>
                  <a:pt x="0" y="2938093"/>
                </a:lnTo>
                <a:close/>
              </a:path>
            </a:pathLst>
          </a:custGeom>
          <a:noFill/>
          <a:ln>
            <a:noFill/>
          </a:ln>
        </p:spPr>
      </p:pic>
      <p:sp>
        <p:nvSpPr>
          <p:cNvPr id="125" name="Google Shape;125;p20"/>
          <p:cNvSpPr/>
          <p:nvPr/>
        </p:nvSpPr>
        <p:spPr>
          <a:xfrm>
            <a:off x="9063204" y="0"/>
            <a:ext cx="3128797" cy="2679752"/>
          </a:xfrm>
          <a:custGeom>
            <a:rect b="b" l="l" r="r" t="t"/>
            <a:pathLst>
              <a:path extrusionOk="0" h="2679752" w="3128797">
                <a:moveTo>
                  <a:pt x="3128797" y="879358"/>
                </a:moveTo>
                <a:lnTo>
                  <a:pt x="3128797" y="2679752"/>
                </a:lnTo>
                <a:lnTo>
                  <a:pt x="3059267" y="2608151"/>
                </a:lnTo>
                <a:cubicBezTo>
                  <a:pt x="2845801" y="2364562"/>
                  <a:pt x="2737482" y="2047511"/>
                  <a:pt x="2764395" y="1724021"/>
                </a:cubicBezTo>
                <a:cubicBezTo>
                  <a:pt x="2789869" y="1485736"/>
                  <a:pt x="2988975" y="1235917"/>
                  <a:pt x="3093998" y="985035"/>
                </a:cubicBezTo>
                <a:close/>
                <a:moveTo>
                  <a:pt x="0" y="0"/>
                </a:moveTo>
                <a:lnTo>
                  <a:pt x="3128797" y="0"/>
                </a:lnTo>
                <a:lnTo>
                  <a:pt x="3128797" y="550788"/>
                </a:lnTo>
                <a:lnTo>
                  <a:pt x="3123603" y="534564"/>
                </a:lnTo>
                <a:cubicBezTo>
                  <a:pt x="2933666" y="80785"/>
                  <a:pt x="2078477" y="268334"/>
                  <a:pt x="1737201" y="374784"/>
                </a:cubicBezTo>
                <a:cubicBezTo>
                  <a:pt x="1414305" y="472235"/>
                  <a:pt x="872573" y="510694"/>
                  <a:pt x="534991" y="378865"/>
                </a:cubicBezTo>
                <a:cubicBezTo>
                  <a:pt x="393838" y="323373"/>
                  <a:pt x="264165" y="243263"/>
                  <a:pt x="147047" y="143968"/>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6" name="Google Shape;126;p20"/>
          <p:cNvSpPr/>
          <p:nvPr/>
        </p:nvSpPr>
        <p:spPr>
          <a:xfrm>
            <a:off x="-9637" y="1"/>
            <a:ext cx="2617625" cy="3478627"/>
          </a:xfrm>
          <a:custGeom>
            <a:rect b="b" l="l" r="r" t="t"/>
            <a:pathLst>
              <a:path extrusionOk="0" h="3478627" w="2617625">
                <a:moveTo>
                  <a:pt x="0" y="0"/>
                </a:moveTo>
                <a:lnTo>
                  <a:pt x="2617625" y="0"/>
                </a:lnTo>
                <a:lnTo>
                  <a:pt x="2553291" y="101454"/>
                </a:lnTo>
                <a:cubicBezTo>
                  <a:pt x="2193600" y="596780"/>
                  <a:pt x="1511980" y="777778"/>
                  <a:pt x="1240549" y="958722"/>
                </a:cubicBezTo>
                <a:cubicBezTo>
                  <a:pt x="1133381" y="1026274"/>
                  <a:pt x="1037426" y="1107134"/>
                  <a:pt x="955351" y="1199055"/>
                </a:cubicBezTo>
                <a:cubicBezTo>
                  <a:pt x="758369" y="1419663"/>
                  <a:pt x="648207" y="1608072"/>
                  <a:pt x="600934" y="1984701"/>
                </a:cubicBezTo>
                <a:cubicBezTo>
                  <a:pt x="539729" y="2480023"/>
                  <a:pt x="361052" y="3033377"/>
                  <a:pt x="38433" y="3435524"/>
                </a:cubicBezTo>
                <a:lnTo>
                  <a:pt x="0" y="347862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27" name="Shape 127"/>
        <p:cNvGrpSpPr/>
        <p:nvPr/>
      </p:nvGrpSpPr>
      <p:grpSpPr>
        <a:xfrm>
          <a:off x="0" y="0"/>
          <a:ext cx="0" cy="0"/>
          <a:chOff x="0" y="0"/>
          <a:chExt cx="0" cy="0"/>
        </a:xfrm>
      </p:grpSpPr>
      <p:cxnSp>
        <p:nvCxnSpPr>
          <p:cNvPr id="128" name="Google Shape;128;p21"/>
          <p:cNvCxnSpPr/>
          <p:nvPr/>
        </p:nvCxnSpPr>
        <p:spPr>
          <a:xfrm>
            <a:off x="5921979" y="834643"/>
            <a:ext cx="5568900" cy="0"/>
          </a:xfrm>
          <a:prstGeom prst="straightConnector1">
            <a:avLst/>
          </a:prstGeom>
          <a:noFill/>
          <a:ln cap="flat" cmpd="sng" w="9525">
            <a:solidFill>
              <a:schemeClr val="dk1"/>
            </a:solidFill>
            <a:prstDash val="solid"/>
            <a:round/>
            <a:headEnd len="sm" w="sm" type="none"/>
            <a:tailEnd len="sm" w="sm" type="none"/>
          </a:ln>
        </p:spPr>
      </p:cxnSp>
      <p:sp>
        <p:nvSpPr>
          <p:cNvPr id="129" name="Google Shape;129;p21"/>
          <p:cNvSpPr/>
          <p:nvPr/>
        </p:nvSpPr>
        <p:spPr>
          <a:xfrm rot="10800000">
            <a:off x="5922020" y="188983"/>
            <a:ext cx="348000" cy="348000"/>
          </a:xfrm>
          <a:prstGeom prst="blockArc">
            <a:avLst>
              <a:gd fmla="val 10800000" name="adj1"/>
              <a:gd fmla="val 0" name="adj2"/>
              <a:gd fmla="val 25000" name="adj3"/>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30" name="Google Shape;130;p21"/>
          <p:cNvSpPr txBox="1"/>
          <p:nvPr>
            <p:ph type="title"/>
          </p:nvPr>
        </p:nvSpPr>
        <p:spPr>
          <a:xfrm>
            <a:off x="680322" y="536376"/>
            <a:ext cx="4987500" cy="213300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1" type="ftr"/>
          </p:nvPr>
        </p:nvSpPr>
        <p:spPr>
          <a:xfrm>
            <a:off x="6594050" y="155448"/>
            <a:ext cx="4164900" cy="471600"/>
          </a:xfrm>
          <a:prstGeom prst="rect">
            <a:avLst/>
          </a:prstGeom>
          <a:noFill/>
          <a:ln>
            <a:noFill/>
          </a:ln>
        </p:spPr>
        <p:txBody>
          <a:bodyPr anchorCtr="0" anchor="b" bIns="45700" lIns="0" spcFirstLastPara="1" rIns="91425" wrap="square" tIns="45700">
            <a:noAutofit/>
          </a:bodyPr>
          <a:lstStyle>
            <a:lvl1pPr lvl="0" algn="r">
              <a:lnSpc>
                <a:spcPct val="100000"/>
              </a:lnSpc>
              <a:spcBef>
                <a:spcPts val="0"/>
              </a:spcBef>
              <a:spcAft>
                <a:spcPts val="0"/>
              </a:spcAft>
              <a:buSzPts val="1400"/>
              <a:buNone/>
              <a:defRPr sz="1200">
                <a:solidFill>
                  <a:schemeClr val="dk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1"/>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chemeClr val="lt1"/>
        </a:solidFill>
      </p:bgPr>
    </p:bg>
    <p:spTree>
      <p:nvGrpSpPr>
        <p:cNvPr id="133" name="Shape 1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680321" y="753228"/>
            <a:ext cx="9613800" cy="10809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Century Gothic"/>
              <a:buNone/>
              <a:defRPr b="0" i="0" sz="36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 type="body"/>
          </p:nvPr>
        </p:nvSpPr>
        <p:spPr>
          <a:xfrm>
            <a:off x="680321" y="2336873"/>
            <a:ext cx="9613800" cy="35994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5pPr>
            <a:lvl6pPr indent="-317500" lvl="5" marL="27432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Century Gothic"/>
                <a:ea typeface="Century Gothic"/>
                <a:cs typeface="Century Gothic"/>
                <a:sym typeface="Century Gothic"/>
              </a:defRPr>
            </a:lvl6pPr>
            <a:lvl7pPr indent="-317500" lvl="6" marL="3200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Century Gothic"/>
                <a:ea typeface="Century Gothic"/>
                <a:cs typeface="Century Gothic"/>
                <a:sym typeface="Century Gothic"/>
              </a:defRPr>
            </a:lvl7pPr>
            <a:lvl8pPr indent="-317500" lvl="7" marL="3657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Century Gothic"/>
                <a:ea typeface="Century Gothic"/>
                <a:cs typeface="Century Gothic"/>
                <a:sym typeface="Century Gothic"/>
              </a:defRPr>
            </a:lvl8pPr>
            <a:lvl9pPr indent="-317500" lvl="8" marL="4114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2" name="Google Shape;12;p7"/>
          <p:cNvSpPr txBox="1"/>
          <p:nvPr>
            <p:ph idx="10" type="dt"/>
          </p:nvPr>
        </p:nvSpPr>
        <p:spPr>
          <a:xfrm>
            <a:off x="7550981" y="5936187"/>
            <a:ext cx="27432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3" name="Google Shape;13;p7"/>
          <p:cNvSpPr txBox="1"/>
          <p:nvPr>
            <p:ph idx="11" type="ftr"/>
          </p:nvPr>
        </p:nvSpPr>
        <p:spPr>
          <a:xfrm>
            <a:off x="680321" y="5936188"/>
            <a:ext cx="6870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4" name="Google Shape;14;p7"/>
          <p:cNvSpPr txBox="1"/>
          <p:nvPr>
            <p:ph idx="12" type="sldNum"/>
          </p:nvPr>
        </p:nvSpPr>
        <p:spPr>
          <a:xfrm>
            <a:off x="10729455" y="753227"/>
            <a:ext cx="1154100" cy="10908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1pPr>
            <a:lvl2pPr indent="0" lvl="1"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2pPr>
            <a:lvl3pPr indent="0" lvl="2"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3pPr>
            <a:lvl4pPr indent="0" lvl="3"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4pPr>
            <a:lvl5pPr indent="0" lvl="4"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5pPr>
            <a:lvl6pPr indent="0" lvl="5"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6pPr>
            <a:lvl7pPr indent="0" lvl="6"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7pPr>
            <a:lvl8pPr indent="0" lvl="7"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8pPr>
            <a:lvl9pPr indent="0" lvl="8" mar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
          <p:cNvSpPr txBox="1"/>
          <p:nvPr>
            <p:ph type="title"/>
          </p:nvPr>
        </p:nvSpPr>
        <p:spPr>
          <a:xfrm>
            <a:off x="915899" y="623290"/>
            <a:ext cx="10360200" cy="4471500"/>
          </a:xfrm>
          <a:prstGeom prst="rect">
            <a:avLst/>
          </a:prstGeom>
          <a:noFill/>
          <a:ln>
            <a:noFill/>
          </a:ln>
        </p:spPr>
        <p:txBody>
          <a:bodyPr anchorCtr="0" anchor="ctr" bIns="45700" lIns="91425" spcFirstLastPara="1" rIns="91425" wrap="square" tIns="45700">
            <a:noAutofit/>
          </a:bodyPr>
          <a:lstStyle/>
          <a:p>
            <a:pPr indent="0" lvl="0" marL="0" rtl="0" algn="ctr">
              <a:lnSpc>
                <a:spcPct val="75000"/>
              </a:lnSpc>
              <a:spcBef>
                <a:spcPts val="0"/>
              </a:spcBef>
              <a:spcAft>
                <a:spcPts val="0"/>
              </a:spcAft>
              <a:buClr>
                <a:schemeClr val="lt1"/>
              </a:buClr>
              <a:buSzPts val="5400"/>
              <a:buFont typeface="Century Gothic"/>
              <a:buNone/>
            </a:pPr>
            <a:r>
              <a:rPr lang="en-US" sz="3600">
                <a:latin typeface="Lexend SemiBold"/>
                <a:ea typeface="Lexend SemiBold"/>
                <a:cs typeface="Lexend SemiBold"/>
                <a:sym typeface="Lexend SemiBold"/>
              </a:rPr>
              <a:t>CAR VALUE &amp; RECOMMENDATION SYSTEM</a:t>
            </a:r>
            <a:endParaRPr sz="3600" cap="none">
              <a:solidFill>
                <a:schemeClr val="lt1"/>
              </a:solidFill>
              <a:latin typeface="Lexend SemiBold"/>
              <a:ea typeface="Lexend SemiBold"/>
              <a:cs typeface="Lexend SemiBold"/>
              <a:sym typeface="Lexend SemiBold"/>
            </a:endParaRPr>
          </a:p>
          <a:p>
            <a:pPr indent="0" lvl="0" marL="0" rtl="0" algn="l">
              <a:lnSpc>
                <a:spcPct val="75000"/>
              </a:lnSpc>
              <a:spcBef>
                <a:spcPts val="0"/>
              </a:spcBef>
              <a:spcAft>
                <a:spcPts val="0"/>
              </a:spcAft>
              <a:buClr>
                <a:schemeClr val="lt1"/>
              </a:buClr>
              <a:buSzPts val="5400"/>
              <a:buFont typeface="Century Gothic"/>
              <a:buNone/>
            </a:pPr>
            <a:r>
              <a:rPr lang="en-US" sz="3600">
                <a:latin typeface="Lexend SemiBold"/>
                <a:ea typeface="Lexend SemiBold"/>
                <a:cs typeface="Lexend SemiBold"/>
                <a:sym typeface="Lexend SemiBold"/>
              </a:rPr>
              <a:t>             </a:t>
            </a:r>
            <a:r>
              <a:rPr lang="en-US" sz="3600">
                <a:latin typeface="Lexend SemiBold"/>
                <a:ea typeface="Lexend SemiBold"/>
                <a:cs typeface="Lexend SemiBold"/>
                <a:sym typeface="Lexend SemiBold"/>
              </a:rPr>
              <a:t>AAI-501: Final Team Project</a:t>
            </a:r>
            <a:endParaRPr sz="3600">
              <a:latin typeface="Lexend SemiBold"/>
              <a:ea typeface="Lexend SemiBold"/>
              <a:cs typeface="Lexend SemiBold"/>
              <a:sym typeface="Lexend SemiBold"/>
            </a:endParaRPr>
          </a:p>
        </p:txBody>
      </p:sp>
      <p:sp>
        <p:nvSpPr>
          <p:cNvPr id="139" name="Google Shape;139;p1"/>
          <p:cNvSpPr txBox="1"/>
          <p:nvPr/>
        </p:nvSpPr>
        <p:spPr>
          <a:xfrm>
            <a:off x="2828225" y="3771200"/>
            <a:ext cx="69255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Lexend"/>
                <a:ea typeface="Lexend"/>
                <a:cs typeface="Lexend"/>
                <a:sym typeface="Lexend"/>
              </a:rPr>
              <a:t>Team:</a:t>
            </a:r>
            <a:br>
              <a:rPr b="0" i="0" lang="en-US" sz="2000" u="none" cap="none" strike="noStrike">
                <a:solidFill>
                  <a:schemeClr val="lt1"/>
                </a:solidFill>
                <a:latin typeface="Lexend"/>
                <a:ea typeface="Lexend"/>
                <a:cs typeface="Lexend"/>
                <a:sym typeface="Lexend"/>
              </a:rPr>
            </a:br>
            <a:r>
              <a:rPr b="0" i="0" lang="en-US" sz="2000" u="none" cap="none" strike="noStrike">
                <a:solidFill>
                  <a:schemeClr val="lt1"/>
                </a:solidFill>
                <a:latin typeface="Lexend"/>
                <a:ea typeface="Lexend"/>
                <a:cs typeface="Lexend"/>
                <a:sym typeface="Lexend"/>
              </a:rPr>
              <a:t>Bidyut Prabha Sahu</a:t>
            </a:r>
            <a:endParaRPr b="0" i="0" sz="1400" u="none" cap="none" strike="noStrike">
              <a:solidFill>
                <a:srgbClr val="000000"/>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9ad74a690d_0_10"/>
          <p:cNvSpPr txBox="1"/>
          <p:nvPr>
            <p:ph type="title"/>
          </p:nvPr>
        </p:nvSpPr>
        <p:spPr>
          <a:xfrm>
            <a:off x="530451" y="107531"/>
            <a:ext cx="7061100" cy="1538400"/>
          </a:xfrm>
          <a:prstGeom prst="rect">
            <a:avLst/>
          </a:prstGeom>
          <a:noFill/>
          <a:ln>
            <a:noFill/>
          </a:ln>
        </p:spPr>
        <p:txBody>
          <a:bodyPr anchorCtr="0" anchor="ctr"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The Business Problem </a:t>
            </a:r>
            <a:endParaRPr/>
          </a:p>
          <a:p>
            <a:pPr indent="0" lvl="0" marL="0" rtl="0" algn="l">
              <a:lnSpc>
                <a:spcPct val="90000"/>
              </a:lnSpc>
              <a:spcBef>
                <a:spcPts val="0"/>
              </a:spcBef>
              <a:spcAft>
                <a:spcPts val="0"/>
              </a:spcAft>
              <a:buClr>
                <a:schemeClr val="dk1"/>
              </a:buClr>
              <a:buSzPts val="3200"/>
              <a:buFont typeface="Century Gothic"/>
              <a:buNone/>
            </a:pPr>
            <a:r>
              <a:rPr lang="en-US"/>
              <a:t>(The "Why")</a:t>
            </a:r>
            <a:endParaRPr/>
          </a:p>
        </p:txBody>
      </p:sp>
      <p:sp>
        <p:nvSpPr>
          <p:cNvPr id="145" name="Google Shape;145;g39ad74a690d_0_10"/>
          <p:cNvSpPr txBox="1"/>
          <p:nvPr/>
        </p:nvSpPr>
        <p:spPr>
          <a:xfrm>
            <a:off x="673450" y="1645925"/>
            <a:ext cx="11375100" cy="33246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Market Context:</a:t>
            </a:r>
            <a:r>
              <a:rPr lang="en-US" sz="1600">
                <a:solidFill>
                  <a:schemeClr val="dk1"/>
                </a:solidFill>
              </a:rPr>
              <a:t> Post-pandemic supply shocks led to used car price premiums of </a:t>
            </a:r>
            <a:r>
              <a:rPr b="1" lang="en-US" sz="1600">
                <a:solidFill>
                  <a:schemeClr val="dk1"/>
                </a:solidFill>
              </a:rPr>
              <a:t>20–30%</a:t>
            </a:r>
            <a:r>
              <a:rPr lang="en-US" sz="1600">
                <a:solidFill>
                  <a:schemeClr val="dk1"/>
                </a:solidFill>
              </a:rPr>
              <a:t> over historical averages (Edmunds, 2023).</a:t>
            </a:r>
            <a:endParaRPr sz="1600">
              <a:solidFill>
                <a:schemeClr val="dk1"/>
              </a:solidFill>
            </a:endParaRPr>
          </a:p>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Consumer Pain Point:</a:t>
            </a:r>
            <a:r>
              <a:rPr lang="en-US" sz="1600">
                <a:solidFill>
                  <a:schemeClr val="dk1"/>
                </a:solidFill>
              </a:rPr>
              <a:t> Buyers lack a reliable, objective "fair value" benchmark when navigating private and dealer listings.</a:t>
            </a:r>
            <a:endParaRPr sz="1600">
              <a:solidFill>
                <a:schemeClr val="dk1"/>
              </a:solidFill>
            </a:endParaRPr>
          </a:p>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The Opportunity:</a:t>
            </a:r>
            <a:r>
              <a:rPr lang="en-US" sz="1600">
                <a:solidFill>
                  <a:schemeClr val="dk1"/>
                </a:solidFill>
              </a:rPr>
              <a:t> Build a decision-support tool that provides </a:t>
            </a:r>
            <a:r>
              <a:rPr b="1" lang="en-US" sz="1600">
                <a:solidFill>
                  <a:schemeClr val="dk1"/>
                </a:solidFill>
              </a:rPr>
              <a:t>Price Estimation</a:t>
            </a:r>
            <a:r>
              <a:rPr lang="en-US" sz="1600">
                <a:solidFill>
                  <a:schemeClr val="dk1"/>
                </a:solidFill>
              </a:rPr>
              <a:t>, </a:t>
            </a:r>
            <a:r>
              <a:rPr b="1" lang="en-US" sz="1600">
                <a:solidFill>
                  <a:schemeClr val="dk1"/>
                </a:solidFill>
              </a:rPr>
              <a:t>Deal Classification</a:t>
            </a:r>
            <a:r>
              <a:rPr lang="en-US" sz="1600">
                <a:solidFill>
                  <a:schemeClr val="dk1"/>
                </a:solidFill>
              </a:rPr>
              <a:t>, and </a:t>
            </a:r>
            <a:r>
              <a:rPr b="1" lang="en-US" sz="1600">
                <a:solidFill>
                  <a:schemeClr val="dk1"/>
                </a:solidFill>
              </a:rPr>
              <a:t>Alternative Recommendations</a:t>
            </a:r>
            <a:r>
              <a:rPr lang="en-US" sz="1600">
                <a:solidFill>
                  <a:schemeClr val="dk1"/>
                </a:solidFill>
              </a:rPr>
              <a:t>.</a:t>
            </a:r>
            <a:endParaRPr sz="1600">
              <a:solidFill>
                <a:schemeClr val="dk1"/>
              </a:solidFill>
            </a:endParaRPr>
          </a:p>
          <a:p>
            <a:pPr indent="0" lvl="0" marL="0" marR="0" rtl="0" algn="l">
              <a:lnSpc>
                <a:spcPct val="100000"/>
              </a:lnSpc>
              <a:spcBef>
                <a:spcPts val="1200"/>
              </a:spcBef>
              <a:spcAft>
                <a:spcPts val="0"/>
              </a:spcAft>
              <a:buClr>
                <a:srgbClr val="000000"/>
              </a:buClr>
              <a:buSzPts val="2000"/>
              <a:buFont typeface="Arial"/>
              <a:buNone/>
            </a:pPr>
            <a:r>
              <a:t/>
            </a:r>
            <a:endParaRPr sz="2000">
              <a:solidFill>
                <a:schemeClr val="dk1"/>
              </a:solidFill>
              <a:latin typeface="Century Gothic"/>
              <a:ea typeface="Century Gothic"/>
              <a:cs typeface="Century Gothic"/>
              <a:sym typeface="Century Gothic"/>
            </a:endParaRPr>
          </a:p>
        </p:txBody>
      </p:sp>
      <p:pic>
        <p:nvPicPr>
          <p:cNvPr id="146" name="Google Shape;146;g39ad74a690d_0_10" title="Screenshot 2025-12-27 at 4.39.35 PM.png"/>
          <p:cNvPicPr preferRelativeResize="0"/>
          <p:nvPr/>
        </p:nvPicPr>
        <p:blipFill>
          <a:blip r:embed="rId3">
            <a:alphaModFix/>
          </a:blip>
          <a:stretch>
            <a:fillRect/>
          </a:stretch>
        </p:blipFill>
        <p:spPr>
          <a:xfrm>
            <a:off x="4417425" y="3843675"/>
            <a:ext cx="4551675" cy="2939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b10e0c1cc_0_0"/>
          <p:cNvSpPr txBox="1"/>
          <p:nvPr>
            <p:ph type="title"/>
          </p:nvPr>
        </p:nvSpPr>
        <p:spPr>
          <a:xfrm>
            <a:off x="699375" y="536975"/>
            <a:ext cx="5304600" cy="14298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Project Scope &amp; Hypothesis</a:t>
            </a:r>
            <a:endParaRPr/>
          </a:p>
        </p:txBody>
      </p:sp>
      <p:sp>
        <p:nvSpPr>
          <p:cNvPr id="153" name="Google Shape;153;g39b10e0c1cc_0_0"/>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54" name="Google Shape;154;g39b10e0c1cc_0_0"/>
          <p:cNvSpPr txBox="1"/>
          <p:nvPr>
            <p:ph idx="1" type="body"/>
          </p:nvPr>
        </p:nvSpPr>
        <p:spPr>
          <a:xfrm>
            <a:off x="564625" y="1966775"/>
            <a:ext cx="11512500" cy="3386700"/>
          </a:xfrm>
          <a:prstGeom prst="rect">
            <a:avLst/>
          </a:prstGeom>
          <a:noFill/>
          <a:ln>
            <a:noFill/>
          </a:ln>
        </p:spPr>
        <p:txBody>
          <a:bodyPr anchorCtr="0" anchor="t" bIns="45700" lIns="91425" spcFirstLastPara="1" rIns="91425" wrap="square" tIns="45700">
            <a:noAutofit/>
          </a:bodyPr>
          <a:lstStyle/>
          <a:p>
            <a:pPr indent="-228600" lvl="0" marL="457200" rtl="0" algn="l">
              <a:lnSpc>
                <a:spcPct val="200000"/>
              </a:lnSpc>
              <a:spcBef>
                <a:spcPts val="0"/>
              </a:spcBef>
              <a:spcAft>
                <a:spcPts val="0"/>
              </a:spcAft>
              <a:buNone/>
            </a:pPr>
            <a:r>
              <a:rPr b="1" lang="en-US" sz="1600">
                <a:latin typeface="Arial"/>
                <a:ea typeface="Arial"/>
                <a:cs typeface="Arial"/>
                <a:sym typeface="Arial"/>
              </a:rPr>
              <a:t>Core Hypothesis:</a:t>
            </a:r>
            <a:r>
              <a:rPr lang="en-US" sz="1600">
                <a:latin typeface="Arial"/>
                <a:ea typeface="Arial"/>
                <a:cs typeface="Arial"/>
                <a:sym typeface="Arial"/>
              </a:rPr>
              <a:t> A vehicle's value is a non-linear function of its structural attributes (Brand, Year, Mileage, Engine Size).</a:t>
            </a:r>
            <a:endParaRPr sz="1600">
              <a:latin typeface="Arial"/>
              <a:ea typeface="Arial"/>
              <a:cs typeface="Arial"/>
              <a:sym typeface="Arial"/>
            </a:endParaRPr>
          </a:p>
          <a:p>
            <a:pPr indent="-228600" lvl="0" marL="457200" rtl="0" algn="l">
              <a:lnSpc>
                <a:spcPct val="200000"/>
              </a:lnSpc>
              <a:spcBef>
                <a:spcPts val="0"/>
              </a:spcBef>
              <a:spcAft>
                <a:spcPts val="0"/>
              </a:spcAft>
              <a:buNone/>
            </a:pPr>
            <a:r>
              <a:rPr b="1" lang="en-US" sz="1600">
                <a:latin typeface="Arial"/>
                <a:ea typeface="Arial"/>
                <a:cs typeface="Arial"/>
                <a:sym typeface="Arial"/>
              </a:rPr>
              <a:t>Objective:</a:t>
            </a:r>
            <a:r>
              <a:rPr lang="en-US" sz="1600">
                <a:latin typeface="Arial"/>
                <a:ea typeface="Arial"/>
                <a:cs typeface="Arial"/>
                <a:sym typeface="Arial"/>
              </a:rPr>
              <a:t> Develop a multi-stage AI pipeline:</a:t>
            </a:r>
            <a:endParaRPr sz="1600">
              <a:latin typeface="Arial"/>
              <a:ea typeface="Arial"/>
              <a:cs typeface="Arial"/>
              <a:sym typeface="Arial"/>
            </a:endParaRPr>
          </a:p>
          <a:p>
            <a:pPr indent="-330200" lvl="0" marL="914400" rtl="0" algn="l">
              <a:lnSpc>
                <a:spcPct val="200000"/>
              </a:lnSpc>
              <a:spcBef>
                <a:spcPts val="1200"/>
              </a:spcBef>
              <a:spcAft>
                <a:spcPts val="0"/>
              </a:spcAft>
              <a:buSzPts val="1600"/>
              <a:buAutoNum type="arabicPeriod"/>
            </a:pPr>
            <a:r>
              <a:rPr b="1" lang="en-US" sz="1600">
                <a:latin typeface="Arial"/>
                <a:ea typeface="Arial"/>
                <a:cs typeface="Arial"/>
                <a:sym typeface="Arial"/>
              </a:rPr>
              <a:t>Regressor:</a:t>
            </a:r>
            <a:r>
              <a:rPr lang="en-US" sz="1600">
                <a:latin typeface="Arial"/>
                <a:ea typeface="Arial"/>
                <a:cs typeface="Arial"/>
                <a:sym typeface="Arial"/>
              </a:rPr>
              <a:t> Estimate "Fair Value."</a:t>
            </a:r>
            <a:endParaRPr sz="1600">
              <a:latin typeface="Arial"/>
              <a:ea typeface="Arial"/>
              <a:cs typeface="Arial"/>
              <a:sym typeface="Arial"/>
            </a:endParaRPr>
          </a:p>
          <a:p>
            <a:pPr indent="-330200" lvl="0" marL="914400" rtl="0" algn="l">
              <a:lnSpc>
                <a:spcPct val="200000"/>
              </a:lnSpc>
              <a:spcBef>
                <a:spcPts val="0"/>
              </a:spcBef>
              <a:spcAft>
                <a:spcPts val="0"/>
              </a:spcAft>
              <a:buSzPts val="1600"/>
              <a:buAutoNum type="arabicPeriod"/>
            </a:pPr>
            <a:r>
              <a:rPr b="1" lang="en-US" sz="1600">
                <a:latin typeface="Arial"/>
                <a:ea typeface="Arial"/>
                <a:cs typeface="Arial"/>
                <a:sym typeface="Arial"/>
              </a:rPr>
              <a:t>Classifier:</a:t>
            </a:r>
            <a:r>
              <a:rPr lang="en-US" sz="1600">
                <a:latin typeface="Arial"/>
                <a:ea typeface="Arial"/>
                <a:cs typeface="Arial"/>
                <a:sym typeface="Arial"/>
              </a:rPr>
              <a:t> Identify outliers (Good Deal vs. Overpriced).</a:t>
            </a:r>
            <a:endParaRPr sz="1600">
              <a:latin typeface="Arial"/>
              <a:ea typeface="Arial"/>
              <a:cs typeface="Arial"/>
              <a:sym typeface="Arial"/>
            </a:endParaRPr>
          </a:p>
          <a:p>
            <a:pPr indent="-330200" lvl="0" marL="914400" rtl="0" algn="l">
              <a:lnSpc>
                <a:spcPct val="200000"/>
              </a:lnSpc>
              <a:spcBef>
                <a:spcPts val="0"/>
              </a:spcBef>
              <a:spcAft>
                <a:spcPts val="0"/>
              </a:spcAft>
              <a:buSzPts val="1600"/>
              <a:buAutoNum type="arabicPeriod"/>
            </a:pPr>
            <a:r>
              <a:rPr b="1" lang="en-US" sz="1600">
                <a:latin typeface="Arial"/>
                <a:ea typeface="Arial"/>
                <a:cs typeface="Arial"/>
                <a:sym typeface="Arial"/>
              </a:rPr>
              <a:t>Similarity Engine:</a:t>
            </a:r>
            <a:r>
              <a:rPr lang="en-US" sz="1600">
                <a:latin typeface="Arial"/>
                <a:ea typeface="Arial"/>
                <a:cs typeface="Arial"/>
                <a:sym typeface="Arial"/>
              </a:rPr>
              <a:t> Surface alternatives using </a:t>
            </a:r>
            <a:r>
              <a:rPr b="1" lang="en-US" sz="1600">
                <a:latin typeface="Arial"/>
                <a:ea typeface="Arial"/>
                <a:cs typeface="Arial"/>
                <a:sym typeface="Arial"/>
              </a:rPr>
              <a:t>Latent Space Embeddings</a:t>
            </a:r>
            <a:r>
              <a:rPr lang="en-US" sz="1600">
                <a:latin typeface="Arial"/>
                <a:ea typeface="Arial"/>
                <a:cs typeface="Arial"/>
                <a:sym typeface="Arial"/>
              </a:rPr>
              <a:t>.</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b3ca362bc5_1_0"/>
          <p:cNvSpPr txBox="1"/>
          <p:nvPr>
            <p:ph type="title"/>
          </p:nvPr>
        </p:nvSpPr>
        <p:spPr>
          <a:xfrm>
            <a:off x="699375" y="536975"/>
            <a:ext cx="5304600" cy="14298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Project Lifecycle – The 4-Phase Implementation</a:t>
            </a:r>
            <a:endParaRPr/>
          </a:p>
        </p:txBody>
      </p:sp>
      <p:sp>
        <p:nvSpPr>
          <p:cNvPr id="161" name="Google Shape;161;g3b3ca362bc5_1_0"/>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62" name="Google Shape;162;g3b3ca362bc5_1_0"/>
          <p:cNvSpPr txBox="1"/>
          <p:nvPr>
            <p:ph idx="1" type="body"/>
          </p:nvPr>
        </p:nvSpPr>
        <p:spPr>
          <a:xfrm>
            <a:off x="927775" y="1966775"/>
            <a:ext cx="10984200" cy="33867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1200"/>
              </a:spcBef>
              <a:spcAft>
                <a:spcPts val="0"/>
              </a:spcAft>
              <a:buNone/>
            </a:pPr>
            <a:r>
              <a:rPr b="1" lang="en-US" sz="1600">
                <a:latin typeface="Arial"/>
                <a:ea typeface="Arial"/>
                <a:cs typeface="Arial"/>
                <a:sym typeface="Arial"/>
              </a:rPr>
              <a:t>"A Modular Approach to Building Intelligence"</a:t>
            </a:r>
            <a:endParaRPr b="1" sz="1600">
              <a:latin typeface="Arial"/>
              <a:ea typeface="Arial"/>
              <a:cs typeface="Arial"/>
              <a:sym typeface="Arial"/>
            </a:endParaRPr>
          </a:p>
          <a:p>
            <a:pPr indent="0" lvl="0" marL="0" rtl="0" algn="l">
              <a:lnSpc>
                <a:spcPct val="200000"/>
              </a:lnSpc>
              <a:spcBef>
                <a:spcPts val="1200"/>
              </a:spcBef>
              <a:spcAft>
                <a:spcPts val="0"/>
              </a:spcAft>
              <a:buClr>
                <a:schemeClr val="dk1"/>
              </a:buClr>
              <a:buSzPts val="1100"/>
              <a:buFont typeface="Arial"/>
              <a:buNone/>
            </a:pPr>
            <a:r>
              <a:rPr b="1" lang="en-US" sz="1600">
                <a:latin typeface="Arial"/>
                <a:ea typeface="Arial"/>
                <a:cs typeface="Arial"/>
                <a:sym typeface="Arial"/>
              </a:rPr>
              <a:t>Phase 1: Data Audit &amp; Engineering (The Foundation)</a:t>
            </a:r>
            <a:endParaRPr b="1" sz="1600">
              <a:latin typeface="Arial"/>
              <a:ea typeface="Arial"/>
              <a:cs typeface="Arial"/>
              <a:sym typeface="Arial"/>
            </a:endParaRPr>
          </a:p>
          <a:p>
            <a:pPr indent="-330200" lvl="0" marL="457200" rtl="0" algn="l">
              <a:lnSpc>
                <a:spcPct val="200000"/>
              </a:lnSpc>
              <a:spcBef>
                <a:spcPts val="1200"/>
              </a:spcBef>
              <a:spcAft>
                <a:spcPts val="0"/>
              </a:spcAft>
              <a:buSzPts val="1600"/>
              <a:buChar char="●"/>
            </a:pPr>
            <a:r>
              <a:rPr b="1" lang="en-US" sz="1600">
                <a:latin typeface="Arial"/>
                <a:ea typeface="Arial"/>
                <a:cs typeface="Arial"/>
                <a:sym typeface="Arial"/>
              </a:rPr>
              <a:t>Goal:</a:t>
            </a:r>
            <a:r>
              <a:rPr lang="en-US" sz="1600">
                <a:latin typeface="Arial"/>
                <a:ea typeface="Arial"/>
                <a:cs typeface="Arial"/>
                <a:sym typeface="Arial"/>
              </a:rPr>
              <a:t> Ensure data reliability and "DNN-readiness."</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Actions:</a:t>
            </a:r>
            <a:r>
              <a:rPr lang="en-US" sz="1600">
                <a:latin typeface="Arial"/>
                <a:ea typeface="Arial"/>
                <a:cs typeface="Arial"/>
                <a:sym typeface="Arial"/>
              </a:rPr>
              <a:t> Resolved high cardinality in vehicle models (28 unique types), engineered the "Car Age" feature, and implemented </a:t>
            </a:r>
            <a:r>
              <a:rPr lang="en-US" sz="1600">
                <a:solidFill>
                  <a:srgbClr val="188038"/>
                </a:solidFill>
                <a:latin typeface="Roboto Mono"/>
                <a:ea typeface="Roboto Mono"/>
                <a:cs typeface="Roboto Mono"/>
                <a:sym typeface="Roboto Mono"/>
              </a:rPr>
              <a:t>StandardScaler</a:t>
            </a:r>
            <a:r>
              <a:rPr lang="en-US" sz="1600">
                <a:latin typeface="Arial"/>
                <a:ea typeface="Arial"/>
                <a:cs typeface="Arial"/>
                <a:sym typeface="Arial"/>
              </a:rPr>
              <a:t> to normalize feature ranges.</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Outcome:</a:t>
            </a:r>
            <a:r>
              <a:rPr lang="en-US" sz="1600">
                <a:latin typeface="Arial"/>
                <a:ea typeface="Arial"/>
                <a:cs typeface="Arial"/>
                <a:sym typeface="Arial"/>
              </a:rPr>
              <a:t> A robust preprocessing pipeline that prevents "data leakage."</a:t>
            </a:r>
            <a:endParaRPr sz="1600">
              <a:latin typeface="Arial"/>
              <a:ea typeface="Arial"/>
              <a:cs typeface="Arial"/>
              <a:sym typeface="Arial"/>
            </a:endParaRPr>
          </a:p>
          <a:p>
            <a:pPr indent="0" lvl="0" marL="0" rtl="0" algn="l">
              <a:lnSpc>
                <a:spcPct val="200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100000"/>
              </a:lnSpc>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b3ca362bc5_1_10"/>
          <p:cNvSpPr txBox="1"/>
          <p:nvPr>
            <p:ph type="title"/>
          </p:nvPr>
        </p:nvSpPr>
        <p:spPr>
          <a:xfrm>
            <a:off x="699375" y="536975"/>
            <a:ext cx="5304600" cy="14298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Project Lifecycle – The 4-Phase Implementation</a:t>
            </a:r>
            <a:endParaRPr/>
          </a:p>
        </p:txBody>
      </p:sp>
      <p:sp>
        <p:nvSpPr>
          <p:cNvPr id="169" name="Google Shape;169;g3b3ca362bc5_1_10"/>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70" name="Google Shape;170;g3b3ca362bc5_1_10"/>
          <p:cNvSpPr txBox="1"/>
          <p:nvPr>
            <p:ph idx="1" type="body"/>
          </p:nvPr>
        </p:nvSpPr>
        <p:spPr>
          <a:xfrm>
            <a:off x="927775" y="1966775"/>
            <a:ext cx="10563300" cy="33867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1200"/>
              </a:spcBef>
              <a:spcAft>
                <a:spcPts val="0"/>
              </a:spcAft>
              <a:buNone/>
            </a:pPr>
            <a:r>
              <a:rPr b="1" lang="en-US" sz="1600">
                <a:latin typeface="Arial"/>
                <a:ea typeface="Arial"/>
                <a:cs typeface="Arial"/>
                <a:sym typeface="Arial"/>
              </a:rPr>
              <a:t>Phase 2: Benchmarking &amp; Supervised Regression</a:t>
            </a:r>
            <a:endParaRPr b="1" sz="1600">
              <a:latin typeface="Arial"/>
              <a:ea typeface="Arial"/>
              <a:cs typeface="Arial"/>
              <a:sym typeface="Arial"/>
            </a:endParaRPr>
          </a:p>
          <a:p>
            <a:pPr indent="-330200" lvl="0" marL="457200" rtl="0" algn="l">
              <a:lnSpc>
                <a:spcPct val="200000"/>
              </a:lnSpc>
              <a:spcBef>
                <a:spcPts val="1200"/>
              </a:spcBef>
              <a:spcAft>
                <a:spcPts val="0"/>
              </a:spcAft>
              <a:buSzPts val="1600"/>
              <a:buChar char="●"/>
            </a:pPr>
            <a:r>
              <a:rPr b="1" lang="en-US" sz="1600">
                <a:latin typeface="Arial"/>
                <a:ea typeface="Arial"/>
                <a:cs typeface="Arial"/>
                <a:sym typeface="Arial"/>
              </a:rPr>
              <a:t>Goal:</a:t>
            </a:r>
            <a:r>
              <a:rPr lang="en-US" sz="1600">
                <a:latin typeface="Arial"/>
                <a:ea typeface="Arial"/>
                <a:cs typeface="Arial"/>
                <a:sym typeface="Arial"/>
              </a:rPr>
              <a:t> Establish a baseline for price estimation.</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Actions:</a:t>
            </a:r>
            <a:r>
              <a:rPr lang="en-US" sz="1600">
                <a:latin typeface="Arial"/>
                <a:ea typeface="Arial"/>
                <a:cs typeface="Arial"/>
                <a:sym typeface="Arial"/>
              </a:rPr>
              <a:t> Compared Linear Regression against a Deep Neural Network (DNN).</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Insight:</a:t>
            </a:r>
            <a:r>
              <a:rPr lang="en-US" sz="1600">
                <a:latin typeface="Arial"/>
                <a:ea typeface="Arial"/>
                <a:cs typeface="Arial"/>
                <a:sym typeface="Arial"/>
              </a:rPr>
              <a:t> Identified the "Correlation Gap"—proving that simple features alone were insufficient for high-precision pricing, shifting our focus to statistical mean benchmarks.</a:t>
            </a:r>
            <a:endParaRPr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200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100000"/>
              </a:lnSpc>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b3ca362bc5_1_18"/>
          <p:cNvSpPr txBox="1"/>
          <p:nvPr>
            <p:ph type="title"/>
          </p:nvPr>
        </p:nvSpPr>
        <p:spPr>
          <a:xfrm>
            <a:off x="699375" y="536975"/>
            <a:ext cx="5304600" cy="14298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Project Lifecycle – The 4-Phase Implementation</a:t>
            </a:r>
            <a:endParaRPr/>
          </a:p>
        </p:txBody>
      </p:sp>
      <p:sp>
        <p:nvSpPr>
          <p:cNvPr id="177" name="Google Shape;177;g3b3ca362bc5_1_18"/>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78" name="Google Shape;178;g3b3ca362bc5_1_18"/>
          <p:cNvSpPr txBox="1"/>
          <p:nvPr>
            <p:ph idx="1" type="body"/>
          </p:nvPr>
        </p:nvSpPr>
        <p:spPr>
          <a:xfrm>
            <a:off x="927775" y="1966775"/>
            <a:ext cx="10563300" cy="3386700"/>
          </a:xfrm>
          <a:prstGeom prst="rect">
            <a:avLst/>
          </a:prstGeom>
          <a:noFill/>
          <a:ln>
            <a:noFill/>
          </a:ln>
        </p:spPr>
        <p:txBody>
          <a:bodyPr anchorCtr="0" anchor="t" bIns="45700" lIns="91425" spcFirstLastPara="1" rIns="91425" wrap="square" tIns="45700">
            <a:noAutofit/>
          </a:bodyPr>
          <a:lstStyle/>
          <a:p>
            <a:pPr indent="-228600" lvl="0" marL="457200" rtl="0" algn="l">
              <a:lnSpc>
                <a:spcPct val="200000"/>
              </a:lnSpc>
              <a:spcBef>
                <a:spcPts val="1200"/>
              </a:spcBef>
              <a:spcAft>
                <a:spcPts val="0"/>
              </a:spcAft>
              <a:buNone/>
            </a:pPr>
            <a:r>
              <a:rPr b="1" lang="en-US" sz="1600">
                <a:latin typeface="Arial"/>
                <a:ea typeface="Arial"/>
                <a:cs typeface="Arial"/>
                <a:sym typeface="Arial"/>
              </a:rPr>
              <a:t>Phase 3: Constraint Logic &amp; User Matching</a:t>
            </a:r>
            <a:endParaRPr b="1" sz="1600">
              <a:latin typeface="Arial"/>
              <a:ea typeface="Arial"/>
              <a:cs typeface="Arial"/>
              <a:sym typeface="Arial"/>
            </a:endParaRPr>
          </a:p>
          <a:p>
            <a:pPr indent="-330200" lvl="0" marL="457200" rtl="0" algn="l">
              <a:lnSpc>
                <a:spcPct val="200000"/>
              </a:lnSpc>
              <a:spcBef>
                <a:spcPts val="1200"/>
              </a:spcBef>
              <a:spcAft>
                <a:spcPts val="0"/>
              </a:spcAft>
              <a:buSzPts val="1600"/>
              <a:buChar char="●"/>
            </a:pPr>
            <a:r>
              <a:rPr b="1" lang="en-US" sz="1600">
                <a:latin typeface="Arial"/>
                <a:ea typeface="Arial"/>
                <a:cs typeface="Arial"/>
                <a:sym typeface="Arial"/>
              </a:rPr>
              <a:t>Goal:</a:t>
            </a:r>
            <a:r>
              <a:rPr lang="en-US" sz="1600">
                <a:latin typeface="Arial"/>
                <a:ea typeface="Arial"/>
                <a:cs typeface="Arial"/>
                <a:sym typeface="Arial"/>
              </a:rPr>
              <a:t> Bridge the gap between AI and user requirements.</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Actions:</a:t>
            </a:r>
            <a:r>
              <a:rPr lang="en-US" sz="1600">
                <a:latin typeface="Arial"/>
                <a:ea typeface="Arial"/>
                <a:cs typeface="Arial"/>
                <a:sym typeface="Arial"/>
              </a:rPr>
              <a:t> Developed a multi-criteria filtering engine for "hard" constraints (e.g., maximum mileage, fuel type, and brand preferences).</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Outcome:</a:t>
            </a:r>
            <a:r>
              <a:rPr lang="en-US" sz="1600">
                <a:latin typeface="Arial"/>
                <a:ea typeface="Arial"/>
                <a:cs typeface="Arial"/>
                <a:sym typeface="Arial"/>
              </a:rPr>
              <a:t> Ensured the system respects user "deal-breakers" before applying AI logic.</a:t>
            </a:r>
            <a:endParaRPr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200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100000"/>
              </a:lnSpc>
              <a:spcBef>
                <a:spcPts val="12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b3ca362bc5_1_26"/>
          <p:cNvSpPr txBox="1"/>
          <p:nvPr>
            <p:ph type="title"/>
          </p:nvPr>
        </p:nvSpPr>
        <p:spPr>
          <a:xfrm>
            <a:off x="699375" y="536975"/>
            <a:ext cx="5304600" cy="14298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Project Lifecycle – The 4-Phase Implementation</a:t>
            </a:r>
            <a:endParaRPr/>
          </a:p>
        </p:txBody>
      </p:sp>
      <p:sp>
        <p:nvSpPr>
          <p:cNvPr id="185" name="Google Shape;185;g3b3ca362bc5_1_26"/>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86" name="Google Shape;186;g3b3ca362bc5_1_26"/>
          <p:cNvSpPr txBox="1"/>
          <p:nvPr>
            <p:ph idx="1" type="body"/>
          </p:nvPr>
        </p:nvSpPr>
        <p:spPr>
          <a:xfrm>
            <a:off x="927775" y="1966775"/>
            <a:ext cx="10563300" cy="3386700"/>
          </a:xfrm>
          <a:prstGeom prst="rect">
            <a:avLst/>
          </a:prstGeom>
          <a:noFill/>
          <a:ln>
            <a:noFill/>
          </a:ln>
        </p:spPr>
        <p:txBody>
          <a:bodyPr anchorCtr="0" anchor="t" bIns="45700" lIns="91425" spcFirstLastPara="1" rIns="91425" wrap="square" tIns="45700">
            <a:noAutofit/>
          </a:bodyPr>
          <a:lstStyle/>
          <a:p>
            <a:pPr indent="0" lvl="0" marL="0" rtl="0" algn="l">
              <a:lnSpc>
                <a:spcPct val="200000"/>
              </a:lnSpc>
              <a:spcBef>
                <a:spcPts val="1200"/>
              </a:spcBef>
              <a:spcAft>
                <a:spcPts val="0"/>
              </a:spcAft>
              <a:buNone/>
            </a:pPr>
            <a:r>
              <a:rPr b="1" lang="en-US" sz="1600">
                <a:latin typeface="Arial"/>
                <a:ea typeface="Arial"/>
                <a:cs typeface="Arial"/>
                <a:sym typeface="Arial"/>
              </a:rPr>
              <a:t>Phase 4: Advanced AI – Evaluation &amp; Similarity</a:t>
            </a:r>
            <a:endParaRPr b="1" sz="1600">
              <a:latin typeface="Arial"/>
              <a:ea typeface="Arial"/>
              <a:cs typeface="Arial"/>
              <a:sym typeface="Arial"/>
            </a:endParaRPr>
          </a:p>
          <a:p>
            <a:pPr indent="-330200" lvl="0" marL="457200" rtl="0" algn="l">
              <a:lnSpc>
                <a:spcPct val="200000"/>
              </a:lnSpc>
              <a:spcBef>
                <a:spcPts val="1200"/>
              </a:spcBef>
              <a:spcAft>
                <a:spcPts val="0"/>
              </a:spcAft>
              <a:buSzPts val="1600"/>
              <a:buChar char="●"/>
            </a:pPr>
            <a:r>
              <a:rPr b="1" lang="en-US" sz="1600">
                <a:latin typeface="Arial"/>
                <a:ea typeface="Arial"/>
                <a:cs typeface="Arial"/>
                <a:sym typeface="Arial"/>
              </a:rPr>
              <a:t>Goal:</a:t>
            </a:r>
            <a:r>
              <a:rPr lang="en-US" sz="1600">
                <a:latin typeface="Arial"/>
                <a:ea typeface="Arial"/>
                <a:cs typeface="Arial"/>
                <a:sym typeface="Arial"/>
              </a:rPr>
              <a:t> Deliver high-value, actionable insights.</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Actions:</a:t>
            </a:r>
            <a:r>
              <a:rPr lang="en-US" sz="1600">
                <a:latin typeface="Arial"/>
                <a:ea typeface="Arial"/>
                <a:cs typeface="Arial"/>
                <a:sym typeface="Arial"/>
              </a:rPr>
              <a:t> Deployed the </a:t>
            </a:r>
            <a:r>
              <a:rPr b="1" lang="en-US" sz="1600">
                <a:latin typeface="Arial"/>
                <a:ea typeface="Arial"/>
                <a:cs typeface="Arial"/>
                <a:sym typeface="Arial"/>
              </a:rPr>
              <a:t>DNN Classifier</a:t>
            </a:r>
            <a:r>
              <a:rPr lang="en-US" sz="1600">
                <a:latin typeface="Arial"/>
                <a:ea typeface="Arial"/>
                <a:cs typeface="Arial"/>
                <a:sym typeface="Arial"/>
              </a:rPr>
              <a:t> for automated "Deal Status" flagging and the </a:t>
            </a:r>
            <a:r>
              <a:rPr b="1" lang="en-US" sz="1600">
                <a:latin typeface="Arial"/>
                <a:ea typeface="Arial"/>
                <a:cs typeface="Arial"/>
                <a:sym typeface="Arial"/>
              </a:rPr>
              <a:t>Autoencoder</a:t>
            </a:r>
            <a:r>
              <a:rPr lang="en-US" sz="1600">
                <a:latin typeface="Arial"/>
                <a:ea typeface="Arial"/>
                <a:cs typeface="Arial"/>
                <a:sym typeface="Arial"/>
              </a:rPr>
              <a:t> for unsupervised similarity matching.</a:t>
            </a:r>
            <a:endParaRPr sz="1600">
              <a:latin typeface="Arial"/>
              <a:ea typeface="Arial"/>
              <a:cs typeface="Arial"/>
              <a:sym typeface="Arial"/>
            </a:endParaRPr>
          </a:p>
          <a:p>
            <a:pPr indent="-330200" lvl="0" marL="457200" rtl="0" algn="l">
              <a:lnSpc>
                <a:spcPct val="200000"/>
              </a:lnSpc>
              <a:spcBef>
                <a:spcPts val="0"/>
              </a:spcBef>
              <a:spcAft>
                <a:spcPts val="0"/>
              </a:spcAft>
              <a:buSzPts val="1600"/>
              <a:buChar char="●"/>
            </a:pPr>
            <a:r>
              <a:rPr b="1" lang="en-US" sz="1600">
                <a:latin typeface="Arial"/>
                <a:ea typeface="Arial"/>
                <a:cs typeface="Arial"/>
                <a:sym typeface="Arial"/>
              </a:rPr>
              <a:t>Outcome:</a:t>
            </a:r>
            <a:r>
              <a:rPr lang="en-US" sz="1600">
                <a:latin typeface="Arial"/>
                <a:ea typeface="Arial"/>
                <a:cs typeface="Arial"/>
                <a:sym typeface="Arial"/>
              </a:rPr>
              <a:t> Transformed raw data into a recommendation engine that surfaces "mathematically similar" fair-value alternatives.</a:t>
            </a:r>
            <a:endParaRPr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200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457200" rtl="0" algn="l">
              <a:lnSpc>
                <a:spcPct val="200000"/>
              </a:lnSpc>
              <a:spcBef>
                <a:spcPts val="1200"/>
              </a:spcBef>
              <a:spcAft>
                <a:spcPts val="0"/>
              </a:spcAft>
              <a:buNone/>
            </a:pPr>
            <a:r>
              <a:t/>
            </a:r>
            <a:endParaRPr b="1" sz="1600">
              <a:latin typeface="Arial"/>
              <a:ea typeface="Arial"/>
              <a:cs typeface="Arial"/>
              <a:sym typeface="Arial"/>
            </a:endParaRPr>
          </a:p>
          <a:p>
            <a:pPr indent="0" lvl="0" marL="0" rtl="0" algn="l">
              <a:lnSpc>
                <a:spcPct val="100000"/>
              </a:lnSpc>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9b10e0c1cc_0_8"/>
          <p:cNvSpPr txBox="1"/>
          <p:nvPr>
            <p:ph type="title"/>
          </p:nvPr>
        </p:nvSpPr>
        <p:spPr>
          <a:xfrm>
            <a:off x="699375" y="536975"/>
            <a:ext cx="4572600" cy="8319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SzPts val="3200"/>
              <a:buNone/>
            </a:pPr>
            <a:r>
              <a:rPr lang="en-US"/>
              <a:t>Data Insights &amp; Initial "Reality Check"</a:t>
            </a:r>
            <a:endParaRPr/>
          </a:p>
        </p:txBody>
      </p:sp>
      <p:sp>
        <p:nvSpPr>
          <p:cNvPr id="193" name="Google Shape;193;g39b10e0c1cc_0_8"/>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94" name="Google Shape;194;g39b10e0c1cc_0_8"/>
          <p:cNvSpPr txBox="1"/>
          <p:nvPr/>
        </p:nvSpPr>
        <p:spPr>
          <a:xfrm>
            <a:off x="774300" y="1717625"/>
            <a:ext cx="11165100" cy="30168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Dataset:</a:t>
            </a:r>
            <a:r>
              <a:rPr lang="en-US" sz="1600">
                <a:solidFill>
                  <a:schemeClr val="dk1"/>
                </a:solidFill>
              </a:rPr>
              <a:t> 2,500 records featuring core market variables.</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The Challenge:</a:t>
            </a:r>
            <a:r>
              <a:rPr lang="en-US" sz="1600">
                <a:solidFill>
                  <a:schemeClr val="dk1"/>
                </a:solidFill>
              </a:rPr>
              <a:t> Initial EDA revealed a </a:t>
            </a:r>
            <a:r>
              <a:rPr b="1" lang="en-US" sz="1600">
                <a:solidFill>
                  <a:schemeClr val="dk1"/>
                </a:solidFill>
              </a:rPr>
              <a:t>"Low Signal" Environment</a:t>
            </a:r>
            <a:r>
              <a:rPr lang="en-US" sz="1600">
                <a:solidFill>
                  <a:schemeClr val="dk1"/>
                </a:solidFill>
              </a:rPr>
              <a:t>. Scatter plots showed high variance in price for identical mileage/year brackets.</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Key Finding:</a:t>
            </a:r>
            <a:r>
              <a:rPr lang="en-US" sz="1600">
                <a:solidFill>
                  <a:schemeClr val="dk1"/>
                </a:solidFill>
              </a:rPr>
              <a:t> Traditional features alone (Brand/Year/Mileage) explain less than 5% of the price variance in this specific sample.</a:t>
            </a:r>
            <a:endParaRPr sz="1600">
              <a:solidFill>
                <a:schemeClr val="dk1"/>
              </a:solidFill>
            </a:endParaRPr>
          </a:p>
          <a:p>
            <a:pPr indent="0" lvl="0" marL="0" rtl="0" algn="l">
              <a:spcBef>
                <a:spcPts val="0"/>
              </a:spcBef>
              <a:spcAft>
                <a:spcPts val="0"/>
              </a:spcAft>
              <a:buNone/>
            </a:pPr>
            <a:r>
              <a:t/>
            </a:r>
            <a:endParaRPr sz="2400">
              <a:solidFill>
                <a:schemeClr val="dk1"/>
              </a:solidFill>
              <a:latin typeface="Century Gothic"/>
              <a:ea typeface="Century Gothic"/>
              <a:cs typeface="Century Gothic"/>
              <a:sym typeface="Century Gothic"/>
            </a:endParaRPr>
          </a:p>
        </p:txBody>
      </p:sp>
      <p:pic>
        <p:nvPicPr>
          <p:cNvPr id="195" name="Google Shape;195;g39b10e0c1cc_0_8" title="Screenshot 2025-12-26 at 8.40.44 PM.png"/>
          <p:cNvPicPr preferRelativeResize="0"/>
          <p:nvPr/>
        </p:nvPicPr>
        <p:blipFill>
          <a:blip r:embed="rId3">
            <a:alphaModFix/>
          </a:blip>
          <a:stretch>
            <a:fillRect/>
          </a:stretch>
        </p:blipFill>
        <p:spPr>
          <a:xfrm>
            <a:off x="2740975" y="3741950"/>
            <a:ext cx="4685250" cy="3064850"/>
          </a:xfrm>
          <a:prstGeom prst="rect">
            <a:avLst/>
          </a:prstGeom>
          <a:noFill/>
          <a:ln>
            <a:noFill/>
          </a:ln>
        </p:spPr>
      </p:pic>
      <p:pic>
        <p:nvPicPr>
          <p:cNvPr id="196" name="Google Shape;196;g39b10e0c1cc_0_8" title="Screenshot 2025-12-27 at 4.31.55 PM.png"/>
          <p:cNvPicPr preferRelativeResize="0"/>
          <p:nvPr/>
        </p:nvPicPr>
        <p:blipFill>
          <a:blip r:embed="rId4">
            <a:alphaModFix/>
          </a:blip>
          <a:stretch>
            <a:fillRect/>
          </a:stretch>
        </p:blipFill>
        <p:spPr>
          <a:xfrm>
            <a:off x="6843725" y="3941925"/>
            <a:ext cx="5252851" cy="2523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txBox="1"/>
          <p:nvPr>
            <p:ph type="title"/>
          </p:nvPr>
        </p:nvSpPr>
        <p:spPr>
          <a:xfrm>
            <a:off x="699375" y="536981"/>
            <a:ext cx="5408100" cy="11883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Technical Approach – Supervised Learning</a:t>
            </a:r>
            <a:endParaRPr/>
          </a:p>
        </p:txBody>
      </p:sp>
      <p:sp>
        <p:nvSpPr>
          <p:cNvPr id="202" name="Google Shape;202;p5"/>
          <p:cNvSpPr txBox="1"/>
          <p:nvPr/>
        </p:nvSpPr>
        <p:spPr>
          <a:xfrm>
            <a:off x="915225" y="1828200"/>
            <a:ext cx="10831500" cy="30888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Baseline:</a:t>
            </a:r>
            <a:r>
              <a:rPr lang="en-US" sz="1600">
                <a:solidFill>
                  <a:schemeClr val="dk1"/>
                </a:solidFill>
              </a:rPr>
              <a:t> Linear Regression (R^2  approx -0.019).</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Deep Learning:</a:t>
            </a:r>
            <a:r>
              <a:rPr lang="en-US" sz="1600">
                <a:solidFill>
                  <a:schemeClr val="dk1"/>
                </a:solidFill>
              </a:rPr>
              <a:t> 3-Layer DNN Regressor with Dropout layers to handle noise.</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Result Interpretation:</a:t>
            </a:r>
            <a:r>
              <a:rPr lang="en-US" sz="1600">
                <a:solidFill>
                  <a:schemeClr val="dk1"/>
                </a:solidFill>
              </a:rPr>
              <a:t> The model achieved parity with the baseline. In data science, this indicates that </a:t>
            </a:r>
            <a:r>
              <a:rPr b="1" lang="en-US" sz="1600">
                <a:solidFill>
                  <a:schemeClr val="dk1"/>
                </a:solidFill>
              </a:rPr>
              <a:t>Model Complexity cannot fix a lack of Data Signal.</a:t>
            </a:r>
            <a:r>
              <a:rPr lang="en-US" sz="1600">
                <a:solidFill>
                  <a:schemeClr val="dk1"/>
                </a:solidFill>
              </a:rPr>
              <a:t> * </a:t>
            </a:r>
            <a:r>
              <a:rPr b="1" lang="en-US" sz="1600">
                <a:solidFill>
                  <a:schemeClr val="dk1"/>
                </a:solidFill>
              </a:rPr>
              <a:t>Strategic Pivot:</a:t>
            </a:r>
            <a:r>
              <a:rPr lang="en-US" sz="1600">
                <a:solidFill>
                  <a:schemeClr val="dk1"/>
                </a:solidFill>
              </a:rPr>
              <a:t> We transitioned the Regressor from a "Precise Predictor" to a </a:t>
            </a:r>
            <a:r>
              <a:rPr b="1" lang="en-US" sz="1600">
                <a:solidFill>
                  <a:schemeClr val="dk1"/>
                </a:solidFill>
              </a:rPr>
              <a:t>"Statistical Baseline"</a:t>
            </a:r>
            <a:r>
              <a:rPr lang="en-US" sz="1600">
                <a:solidFill>
                  <a:schemeClr val="dk1"/>
                </a:solidFill>
              </a:rPr>
              <a:t> for outlier detection.</a:t>
            </a:r>
            <a:endParaRPr sz="1600">
              <a:solidFill>
                <a:schemeClr val="dk1"/>
              </a:solidFill>
            </a:endParaRPr>
          </a:p>
          <a:p>
            <a:pPr indent="0" lvl="0" marL="0" marR="0" rtl="0" algn="l">
              <a:lnSpc>
                <a:spcPct val="100000"/>
              </a:lnSpc>
              <a:spcBef>
                <a:spcPts val="2000"/>
              </a:spcBef>
              <a:spcAft>
                <a:spcPts val="0"/>
              </a:spcAft>
              <a:buClr>
                <a:srgbClr val="000000"/>
              </a:buClr>
              <a:buSzPts val="1800"/>
              <a:buFont typeface="Arial"/>
              <a:buNone/>
            </a:pPr>
            <a:r>
              <a:rPr b="1" i="0" lang="en-US" sz="1800" u="none" cap="none" strike="noStrike">
                <a:solidFill>
                  <a:schemeClr val="lt1"/>
                </a:solidFill>
                <a:latin typeface="Century Gothic"/>
                <a:ea typeface="Century Gothic"/>
                <a:cs typeface="Century Gothic"/>
                <a:sym typeface="Century Gothic"/>
              </a:rPr>
              <a:t>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9ad74a690d_0_22"/>
          <p:cNvSpPr txBox="1"/>
          <p:nvPr>
            <p:ph type="title"/>
          </p:nvPr>
        </p:nvSpPr>
        <p:spPr>
          <a:xfrm>
            <a:off x="809775" y="536981"/>
            <a:ext cx="5302200" cy="1073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Innovation – Unsupervised Similarity Engine</a:t>
            </a:r>
            <a:endParaRPr/>
          </a:p>
        </p:txBody>
      </p:sp>
      <p:sp>
        <p:nvSpPr>
          <p:cNvPr id="208" name="Google Shape;208;g39ad74a690d_0_22"/>
          <p:cNvSpPr txBox="1"/>
          <p:nvPr/>
        </p:nvSpPr>
        <p:spPr>
          <a:xfrm>
            <a:off x="859925" y="1868075"/>
            <a:ext cx="9501600" cy="33813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Architecture:</a:t>
            </a:r>
            <a:r>
              <a:rPr lang="en-US" sz="1600">
                <a:solidFill>
                  <a:schemeClr val="dk1"/>
                </a:solidFill>
              </a:rPr>
              <a:t> </a:t>
            </a:r>
            <a:r>
              <a:rPr b="1" lang="en-US" sz="1600">
                <a:solidFill>
                  <a:schemeClr val="dk1"/>
                </a:solidFill>
              </a:rPr>
              <a:t>Autoencoder Neural Network</a:t>
            </a:r>
            <a:r>
              <a:rPr lang="en-US" sz="1600">
                <a:solidFill>
                  <a:schemeClr val="dk1"/>
                </a:solidFill>
              </a:rPr>
              <a:t>.</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The "Secret Sauce":</a:t>
            </a:r>
            <a:r>
              <a:rPr lang="en-US" sz="1600">
                <a:solidFill>
                  <a:schemeClr val="dk1"/>
                </a:solidFill>
              </a:rPr>
              <a:t> We compressed 10+ car features into an 8-dimensional </a:t>
            </a:r>
            <a:r>
              <a:rPr b="1" lang="en-US" sz="1600">
                <a:solidFill>
                  <a:schemeClr val="dk1"/>
                </a:solidFill>
              </a:rPr>
              <a:t>Latent Vector</a:t>
            </a:r>
            <a:r>
              <a:rPr lang="en-US" sz="1600">
                <a:solidFill>
                  <a:schemeClr val="dk1"/>
                </a:solidFill>
              </a:rPr>
              <a:t>.</a:t>
            </a:r>
            <a:endParaRPr sz="16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600">
                <a:solidFill>
                  <a:schemeClr val="dk1"/>
                </a:solidFill>
              </a:rPr>
              <a:t>Value:</a:t>
            </a:r>
            <a:r>
              <a:rPr lang="en-US" sz="1600">
                <a:solidFill>
                  <a:schemeClr val="dk1"/>
                </a:solidFill>
              </a:rPr>
              <a:t> Instead of matching cars by "Brand Name," the system finds cars with the same "DNA" (structural similarity in mileage, age, and performance).</a:t>
            </a:r>
            <a:endParaRPr sz="1600">
              <a:solidFill>
                <a:schemeClr val="dk1"/>
              </a:solidFill>
            </a:endParaRPr>
          </a:p>
          <a:p>
            <a:pPr indent="0" lvl="0" marL="0" marR="0" rtl="0" algn="l">
              <a:lnSpc>
                <a:spcPct val="200000"/>
              </a:lnSpc>
              <a:spcBef>
                <a:spcPts val="0"/>
              </a:spcBef>
              <a:spcAft>
                <a:spcPts val="0"/>
              </a:spcAft>
              <a:buClr>
                <a:schemeClr val="dk1"/>
              </a:buClr>
              <a:buSzPts val="1100"/>
              <a:buFont typeface="Arial"/>
              <a:buNone/>
            </a:pPr>
            <a:r>
              <a:t/>
            </a:r>
            <a:endParaRPr sz="1800">
              <a:solidFill>
                <a:schemeClr val="dk1"/>
              </a:solidFill>
              <a:latin typeface="Century Gothic"/>
              <a:ea typeface="Century Gothic"/>
              <a:cs typeface="Century Gothic"/>
              <a:sym typeface="Century Gothic"/>
            </a:endParaRPr>
          </a:p>
          <a:p>
            <a:pPr indent="0" lvl="0" marL="0" marR="0" rtl="0" algn="l">
              <a:lnSpc>
                <a:spcPct val="200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pic>
        <p:nvPicPr>
          <p:cNvPr id="209" name="Google Shape;209;g39ad74a690d_0_22" title="Screenshot 2025-12-27 at 4.33.49 PM.png"/>
          <p:cNvPicPr preferRelativeResize="0"/>
          <p:nvPr/>
        </p:nvPicPr>
        <p:blipFill>
          <a:blip r:embed="rId3">
            <a:alphaModFix/>
          </a:blip>
          <a:stretch>
            <a:fillRect/>
          </a:stretch>
        </p:blipFill>
        <p:spPr>
          <a:xfrm>
            <a:off x="3833825" y="3700475"/>
            <a:ext cx="6026308" cy="3157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9ad74a690d_0_34"/>
          <p:cNvSpPr txBox="1"/>
          <p:nvPr>
            <p:ph type="title"/>
          </p:nvPr>
        </p:nvSpPr>
        <p:spPr>
          <a:xfrm>
            <a:off x="809775" y="536981"/>
            <a:ext cx="5302200" cy="1073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Results – Visualizing the Latent Space</a:t>
            </a:r>
            <a:endParaRPr/>
          </a:p>
        </p:txBody>
      </p:sp>
      <p:sp>
        <p:nvSpPr>
          <p:cNvPr id="215" name="Google Shape;215;g39ad74a690d_0_34"/>
          <p:cNvSpPr txBox="1"/>
          <p:nvPr/>
        </p:nvSpPr>
        <p:spPr>
          <a:xfrm>
            <a:off x="809775" y="1943300"/>
            <a:ext cx="10988100" cy="44895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t-SNE Mapping:</a:t>
            </a:r>
            <a:r>
              <a:rPr lang="en-US" sz="1600">
                <a:solidFill>
                  <a:schemeClr val="dk1"/>
                </a:solidFill>
              </a:rPr>
              <a:t> We squashed the 8-dimensional embeddings into a 2D map.</a:t>
            </a:r>
            <a:endParaRPr sz="1600">
              <a:solidFill>
                <a:schemeClr val="dk1"/>
              </a:solidFill>
            </a:endParaRPr>
          </a:p>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Success Metric:</a:t>
            </a:r>
            <a:r>
              <a:rPr lang="en-US" sz="1600">
                <a:solidFill>
                  <a:schemeClr val="dk1"/>
                </a:solidFill>
              </a:rPr>
              <a:t> Even without using "Price" or "Brand" as labels, the Autoencoder naturally clustered similar vehicle types.</a:t>
            </a:r>
            <a:endParaRPr sz="1600">
              <a:solidFill>
                <a:schemeClr val="dk1"/>
              </a:solidFill>
            </a:endParaRPr>
          </a:p>
          <a:p>
            <a:pPr indent="0" lvl="0" marL="0" rtl="0" algn="l">
              <a:lnSpc>
                <a:spcPct val="200000"/>
              </a:lnSpc>
              <a:spcBef>
                <a:spcPts val="1200"/>
              </a:spcBef>
              <a:spcAft>
                <a:spcPts val="0"/>
              </a:spcAft>
              <a:buClr>
                <a:schemeClr val="dk1"/>
              </a:buClr>
              <a:buSzPts val="1100"/>
              <a:buFont typeface="Arial"/>
              <a:buNone/>
            </a:pPr>
            <a:r>
              <a:rPr b="1" lang="en-US" sz="1600">
                <a:solidFill>
                  <a:schemeClr val="dk1"/>
                </a:solidFill>
              </a:rPr>
              <a:t>Application:</a:t>
            </a:r>
            <a:r>
              <a:rPr lang="en-US" sz="1600">
                <a:solidFill>
                  <a:schemeClr val="dk1"/>
                </a:solidFill>
              </a:rPr>
              <a:t> This powers the </a:t>
            </a:r>
            <a:r>
              <a:rPr b="1" lang="en-US" sz="1600">
                <a:solidFill>
                  <a:schemeClr val="dk1"/>
                </a:solidFill>
              </a:rPr>
              <a:t>"You Might Also Like"</a:t>
            </a:r>
            <a:r>
              <a:rPr lang="en-US" sz="1600">
                <a:solidFill>
                  <a:schemeClr val="dk1"/>
                </a:solidFill>
              </a:rPr>
              <a:t> feature, providing consumers with high-value alternatives they might have overlooked.</a:t>
            </a:r>
            <a:endParaRPr sz="1600">
              <a:solidFill>
                <a:schemeClr val="dk1"/>
              </a:solidFill>
            </a:endParaRPr>
          </a:p>
          <a:p>
            <a:pPr indent="0" lvl="0" marL="0" marR="0" rtl="0" algn="l">
              <a:lnSpc>
                <a:spcPct val="200000"/>
              </a:lnSpc>
              <a:spcBef>
                <a:spcPts val="1200"/>
              </a:spcBef>
              <a:spcAft>
                <a:spcPts val="0"/>
              </a:spcAft>
              <a:buClr>
                <a:schemeClr val="dk1"/>
              </a:buClr>
              <a:buSzPts val="1100"/>
              <a:buFont typeface="Arial"/>
              <a:buNone/>
            </a:pPr>
            <a:r>
              <a:t/>
            </a:r>
            <a:endParaRPr sz="1800">
              <a:solidFill>
                <a:schemeClr val="dk1"/>
              </a:solidFill>
              <a:latin typeface="Century Gothic"/>
              <a:ea typeface="Century Gothic"/>
              <a:cs typeface="Century Gothic"/>
              <a:sym typeface="Century Gothic"/>
            </a:endParaRPr>
          </a:p>
          <a:p>
            <a:pPr indent="0" lvl="0" marL="0" marR="0" rtl="0" algn="l">
              <a:lnSpc>
                <a:spcPct val="200000"/>
              </a:lnSpc>
              <a:spcBef>
                <a:spcPts val="12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pic>
        <p:nvPicPr>
          <p:cNvPr id="216" name="Google Shape;216;g39ad74a690d_0_34" title="Screenshot 2025-12-26 at 9.02.20 PM.png"/>
          <p:cNvPicPr preferRelativeResize="0"/>
          <p:nvPr/>
        </p:nvPicPr>
        <p:blipFill>
          <a:blip r:embed="rId3">
            <a:alphaModFix/>
          </a:blip>
          <a:stretch>
            <a:fillRect/>
          </a:stretch>
        </p:blipFill>
        <p:spPr>
          <a:xfrm>
            <a:off x="4214825" y="4126000"/>
            <a:ext cx="4996534" cy="27320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9ad74a690d_0_42"/>
          <p:cNvSpPr txBox="1"/>
          <p:nvPr>
            <p:ph type="title"/>
          </p:nvPr>
        </p:nvSpPr>
        <p:spPr>
          <a:xfrm>
            <a:off x="809775" y="536981"/>
            <a:ext cx="5302200" cy="1073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The Final Inference Engine</a:t>
            </a:r>
            <a:endParaRPr/>
          </a:p>
        </p:txBody>
      </p:sp>
      <p:sp>
        <p:nvSpPr>
          <p:cNvPr id="222" name="Google Shape;222;g39ad74a690d_0_42"/>
          <p:cNvSpPr txBox="1"/>
          <p:nvPr/>
        </p:nvSpPr>
        <p:spPr>
          <a:xfrm>
            <a:off x="809775" y="1335800"/>
            <a:ext cx="10264800" cy="38430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1200"/>
              </a:spcBef>
              <a:spcAft>
                <a:spcPts val="0"/>
              </a:spcAft>
              <a:buClr>
                <a:schemeClr val="dk1"/>
              </a:buClr>
              <a:buSzPts val="1100"/>
              <a:buFont typeface="Arial"/>
              <a:buNone/>
            </a:pPr>
            <a:r>
              <a:rPr lang="en-US" sz="1600">
                <a:solidFill>
                  <a:schemeClr val="dk1"/>
                </a:solidFill>
              </a:rPr>
              <a:t>We delivered a modular Python framework that processes a raw listing and returns:</a:t>
            </a:r>
            <a:endParaRPr sz="1600">
              <a:solidFill>
                <a:schemeClr val="dk1"/>
              </a:solidFill>
            </a:endParaRPr>
          </a:p>
          <a:p>
            <a:pPr indent="-330200" lvl="0" marL="457200" rtl="0" algn="l">
              <a:lnSpc>
                <a:spcPct val="200000"/>
              </a:lnSpc>
              <a:spcBef>
                <a:spcPts val="1200"/>
              </a:spcBef>
              <a:spcAft>
                <a:spcPts val="0"/>
              </a:spcAft>
              <a:buClr>
                <a:schemeClr val="dk1"/>
              </a:buClr>
              <a:buSzPts val="1600"/>
              <a:buAutoNum type="arabicPeriod"/>
            </a:pPr>
            <a:r>
              <a:rPr b="1" lang="en-US" sz="1600">
                <a:solidFill>
                  <a:schemeClr val="dk1"/>
                </a:solidFill>
              </a:rPr>
              <a:t>Predicted Market Price:</a:t>
            </a:r>
            <a:r>
              <a:rPr lang="en-US" sz="1600">
                <a:solidFill>
                  <a:schemeClr val="dk1"/>
                </a:solidFill>
              </a:rPr>
              <a:t> A statistical "Fair Value" benchmark.</a:t>
            </a:r>
            <a:endParaRPr sz="1600">
              <a:solidFill>
                <a:schemeClr val="dk1"/>
              </a:solidFill>
            </a:endParaRPr>
          </a:p>
          <a:p>
            <a:pPr indent="-330200" lvl="0" marL="457200" rtl="0" algn="l">
              <a:lnSpc>
                <a:spcPct val="200000"/>
              </a:lnSpc>
              <a:spcBef>
                <a:spcPts val="0"/>
              </a:spcBef>
              <a:spcAft>
                <a:spcPts val="0"/>
              </a:spcAft>
              <a:buClr>
                <a:schemeClr val="dk1"/>
              </a:buClr>
              <a:buSzPts val="1600"/>
              <a:buAutoNum type="arabicPeriod"/>
            </a:pPr>
            <a:r>
              <a:rPr b="1" lang="en-US" sz="1600">
                <a:solidFill>
                  <a:schemeClr val="dk1"/>
                </a:solidFill>
              </a:rPr>
              <a:t>Deal Status:</a:t>
            </a:r>
            <a:r>
              <a:rPr lang="en-US" sz="1600">
                <a:solidFill>
                  <a:schemeClr val="dk1"/>
                </a:solidFill>
              </a:rPr>
              <a:t> Automating the "Value Judgment" (e.g., "15% below market average").</a:t>
            </a:r>
            <a:endParaRPr sz="1600">
              <a:solidFill>
                <a:schemeClr val="dk1"/>
              </a:solidFill>
            </a:endParaRPr>
          </a:p>
          <a:p>
            <a:pPr indent="-330200" lvl="0" marL="457200" rtl="0" algn="l">
              <a:lnSpc>
                <a:spcPct val="200000"/>
              </a:lnSpc>
              <a:spcBef>
                <a:spcPts val="0"/>
              </a:spcBef>
              <a:spcAft>
                <a:spcPts val="0"/>
              </a:spcAft>
              <a:buClr>
                <a:schemeClr val="dk1"/>
              </a:buClr>
              <a:buSzPts val="1600"/>
              <a:buAutoNum type="arabicPeriod"/>
            </a:pPr>
            <a:r>
              <a:rPr b="1" lang="en-US" sz="1600">
                <a:solidFill>
                  <a:schemeClr val="dk1"/>
                </a:solidFill>
              </a:rPr>
              <a:t>Similarity Match:</a:t>
            </a:r>
            <a:r>
              <a:rPr lang="en-US" sz="1600">
                <a:solidFill>
                  <a:schemeClr val="dk1"/>
                </a:solidFill>
              </a:rPr>
              <a:t> Top 3 alternatives based on Latent Space distance.</a:t>
            </a:r>
            <a:endParaRPr sz="1600">
              <a:solidFill>
                <a:schemeClr val="dk1"/>
              </a:solidFill>
            </a:endParaRPr>
          </a:p>
          <a:p>
            <a:pPr indent="0" lvl="0" marL="0" marR="0" rtl="0" algn="l">
              <a:lnSpc>
                <a:spcPct val="200000"/>
              </a:lnSpc>
              <a:spcBef>
                <a:spcPts val="1200"/>
              </a:spcBef>
              <a:spcAft>
                <a:spcPts val="0"/>
              </a:spcAft>
              <a:buClr>
                <a:schemeClr val="dk1"/>
              </a:buClr>
              <a:buSzPts val="1100"/>
              <a:buFont typeface="Arial"/>
              <a:buNone/>
            </a:pPr>
            <a:r>
              <a:t/>
            </a:r>
            <a:endParaRPr sz="1800">
              <a:solidFill>
                <a:schemeClr val="dk1"/>
              </a:solidFill>
              <a:latin typeface="Century Gothic"/>
              <a:ea typeface="Century Gothic"/>
              <a:cs typeface="Century Gothic"/>
              <a:sym typeface="Century Gothic"/>
            </a:endParaRPr>
          </a:p>
          <a:p>
            <a:pPr indent="0" lvl="0" marL="0" marR="0" rtl="0" algn="l">
              <a:lnSpc>
                <a:spcPct val="200000"/>
              </a:lnSpc>
              <a:spcBef>
                <a:spcPts val="12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pic>
        <p:nvPicPr>
          <p:cNvPr id="223" name="Google Shape;223;g39ad74a690d_0_42" title="Screenshot 2025-12-27 at 12.56.45 PM.png"/>
          <p:cNvPicPr preferRelativeResize="0"/>
          <p:nvPr/>
        </p:nvPicPr>
        <p:blipFill>
          <a:blip r:embed="rId3">
            <a:alphaModFix/>
          </a:blip>
          <a:stretch>
            <a:fillRect/>
          </a:stretch>
        </p:blipFill>
        <p:spPr>
          <a:xfrm>
            <a:off x="3421975" y="3602826"/>
            <a:ext cx="3048000" cy="2294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9ad74a690d_0_72"/>
          <p:cNvSpPr txBox="1"/>
          <p:nvPr>
            <p:ph type="title"/>
          </p:nvPr>
        </p:nvSpPr>
        <p:spPr>
          <a:xfrm>
            <a:off x="809775" y="536981"/>
            <a:ext cx="5302200" cy="1073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Accomplishments &amp; Business Value</a:t>
            </a:r>
            <a:endParaRPr/>
          </a:p>
        </p:txBody>
      </p:sp>
      <p:sp>
        <p:nvSpPr>
          <p:cNvPr id="229" name="Google Shape;229;g39ad74a690d_0_72"/>
          <p:cNvSpPr txBox="1"/>
          <p:nvPr/>
        </p:nvSpPr>
        <p:spPr>
          <a:xfrm>
            <a:off x="809775" y="1755250"/>
            <a:ext cx="10988700" cy="2077800"/>
          </a:xfrm>
          <a:prstGeom prst="rect">
            <a:avLst/>
          </a:prstGeom>
          <a:noFill/>
          <a:ln>
            <a:noFill/>
          </a:ln>
        </p:spPr>
        <p:txBody>
          <a:bodyPr anchorCtr="0" anchor="t" bIns="45700" lIns="91425" spcFirstLastPara="1" rIns="91425" wrap="square" tIns="45700">
            <a:spAutoFit/>
          </a:bodyPr>
          <a:lstStyle/>
          <a:p>
            <a:pPr indent="0" lvl="0" marL="0" rtl="0" algn="l">
              <a:lnSpc>
                <a:spcPct val="200000"/>
              </a:lnSpc>
              <a:spcBef>
                <a:spcPts val="600"/>
              </a:spcBef>
              <a:spcAft>
                <a:spcPts val="0"/>
              </a:spcAft>
              <a:buClr>
                <a:schemeClr val="dk1"/>
              </a:buClr>
              <a:buSzPts val="1100"/>
              <a:buFont typeface="Arial"/>
              <a:buNone/>
            </a:pPr>
            <a:r>
              <a:rPr b="1" lang="en-US" sz="1600">
                <a:solidFill>
                  <a:schemeClr val="dk1"/>
                </a:solidFill>
              </a:rPr>
              <a:t>Modular Pipeline:</a:t>
            </a:r>
            <a:r>
              <a:rPr lang="en-US" sz="1600">
                <a:solidFill>
                  <a:schemeClr val="dk1"/>
                </a:solidFill>
              </a:rPr>
              <a:t> Created an end-to-end framework from raw JSON/CSV to a deployment-ready inference function.</a:t>
            </a:r>
            <a:endParaRPr sz="1600">
              <a:solidFill>
                <a:schemeClr val="dk1"/>
              </a:solidFill>
            </a:endParaRPr>
          </a:p>
          <a:p>
            <a:pPr indent="0" lvl="0" marL="0" rtl="0" algn="l">
              <a:lnSpc>
                <a:spcPct val="200000"/>
              </a:lnSpc>
              <a:spcBef>
                <a:spcPts val="600"/>
              </a:spcBef>
              <a:spcAft>
                <a:spcPts val="0"/>
              </a:spcAft>
              <a:buClr>
                <a:schemeClr val="dk1"/>
              </a:buClr>
              <a:buSzPts val="1100"/>
              <a:buFont typeface="Arial"/>
              <a:buNone/>
            </a:pPr>
            <a:r>
              <a:rPr b="1" lang="en-US" sz="1600">
                <a:solidFill>
                  <a:schemeClr val="dk1"/>
                </a:solidFill>
              </a:rPr>
              <a:t>Advanced AI Implementation:</a:t>
            </a:r>
            <a:r>
              <a:rPr lang="en-US" sz="1600">
                <a:solidFill>
                  <a:schemeClr val="dk1"/>
                </a:solidFill>
              </a:rPr>
              <a:t> Successfully deployed supervised (DNN) and unsupervised (Autoencoder) models.</a:t>
            </a:r>
            <a:endParaRPr sz="1600">
              <a:solidFill>
                <a:schemeClr val="dk1"/>
              </a:solidFill>
            </a:endParaRPr>
          </a:p>
          <a:p>
            <a:pPr indent="0" lvl="0" marL="0" rtl="0" algn="l">
              <a:lnSpc>
                <a:spcPct val="200000"/>
              </a:lnSpc>
              <a:spcBef>
                <a:spcPts val="600"/>
              </a:spcBef>
              <a:spcAft>
                <a:spcPts val="0"/>
              </a:spcAft>
              <a:buClr>
                <a:schemeClr val="dk1"/>
              </a:buClr>
              <a:buSzPts val="1100"/>
              <a:buFont typeface="Arial"/>
              <a:buNone/>
            </a:pPr>
            <a:r>
              <a:rPr b="1" lang="en-US" sz="1600">
                <a:solidFill>
                  <a:schemeClr val="dk1"/>
                </a:solidFill>
              </a:rPr>
              <a:t>Risk Mitigation:</a:t>
            </a:r>
            <a:r>
              <a:rPr lang="en-US" sz="1600">
                <a:solidFill>
                  <a:schemeClr val="dk1"/>
                </a:solidFill>
              </a:rPr>
              <a:t> Developed a "Deal Classifier" that protects users from overpaying by flagging statistical outliers.</a:t>
            </a:r>
            <a:endParaRPr sz="1600">
              <a:solidFill>
                <a:schemeClr val="dk1"/>
              </a:solidFill>
            </a:endParaRPr>
          </a:p>
          <a:p>
            <a:pPr indent="0" lvl="0" marL="0" marR="0" rtl="0" algn="l">
              <a:lnSpc>
                <a:spcPct val="200000"/>
              </a:lnSpc>
              <a:spcBef>
                <a:spcPts val="600"/>
              </a:spcBef>
              <a:spcAft>
                <a:spcPts val="600"/>
              </a:spcAft>
              <a:buClr>
                <a:srgbClr val="000000"/>
              </a:buClr>
              <a:buSzPts val="1800"/>
              <a:buFont typeface="Arial"/>
              <a:buNone/>
            </a:pPr>
            <a:r>
              <a:t/>
            </a:r>
            <a:endParaRPr sz="1800">
              <a:solidFill>
                <a:srgbClr val="1F1F1F"/>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9ad74a690d_0_66"/>
          <p:cNvSpPr txBox="1"/>
          <p:nvPr>
            <p:ph type="title"/>
          </p:nvPr>
        </p:nvSpPr>
        <p:spPr>
          <a:xfrm>
            <a:off x="809775" y="536981"/>
            <a:ext cx="5302200" cy="10737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Clr>
                <a:schemeClr val="dk1"/>
              </a:buClr>
              <a:buSzPts val="3200"/>
              <a:buFont typeface="Century Gothic"/>
              <a:buNone/>
            </a:pPr>
            <a:r>
              <a:rPr lang="en-US"/>
              <a:t>Future Roadmap – "Solving for Signal"</a:t>
            </a:r>
            <a:endParaRPr/>
          </a:p>
        </p:txBody>
      </p:sp>
      <p:sp>
        <p:nvSpPr>
          <p:cNvPr id="235" name="Google Shape;235;g39ad74a690d_0_66"/>
          <p:cNvSpPr txBox="1"/>
          <p:nvPr/>
        </p:nvSpPr>
        <p:spPr>
          <a:xfrm>
            <a:off x="809775" y="1610670"/>
            <a:ext cx="8229600" cy="7542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457200" lvl="0" marL="0" marR="0" rtl="0" algn="l">
              <a:lnSpc>
                <a:spcPct val="200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36" name="Google Shape;236;g39ad74a690d_0_66"/>
          <p:cNvSpPr txBox="1"/>
          <p:nvPr/>
        </p:nvSpPr>
        <p:spPr>
          <a:xfrm>
            <a:off x="809775" y="1893150"/>
            <a:ext cx="10122900" cy="334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1200"/>
              </a:spcBef>
              <a:spcAft>
                <a:spcPts val="0"/>
              </a:spcAft>
              <a:buClr>
                <a:schemeClr val="dk1"/>
              </a:buClr>
              <a:buSzPts val="1100"/>
              <a:buFont typeface="Arial"/>
              <a:buNone/>
            </a:pPr>
            <a:r>
              <a:rPr lang="en-US" sz="1600">
                <a:solidFill>
                  <a:schemeClr val="dk1"/>
                </a:solidFill>
              </a:rPr>
              <a:t>To move from a structural prototype to a market-leading tool, we recommend:</a:t>
            </a:r>
            <a:endParaRPr sz="1600">
              <a:solidFill>
                <a:schemeClr val="dk1"/>
              </a:solidFill>
            </a:endParaRPr>
          </a:p>
          <a:p>
            <a:pPr indent="-330200" lvl="0" marL="457200" rtl="0" algn="l">
              <a:lnSpc>
                <a:spcPct val="200000"/>
              </a:lnSpc>
              <a:spcBef>
                <a:spcPts val="1200"/>
              </a:spcBef>
              <a:spcAft>
                <a:spcPts val="0"/>
              </a:spcAft>
              <a:buClr>
                <a:schemeClr val="dk1"/>
              </a:buClr>
              <a:buSzPts val="1600"/>
              <a:buChar char="●"/>
            </a:pPr>
            <a:r>
              <a:rPr b="1" lang="en-US" sz="1600">
                <a:solidFill>
                  <a:schemeClr val="dk1"/>
                </a:solidFill>
              </a:rPr>
              <a:t>Feature Enrichment:</a:t>
            </a:r>
            <a:r>
              <a:rPr lang="en-US" sz="1600">
                <a:solidFill>
                  <a:schemeClr val="dk1"/>
                </a:solidFill>
              </a:rPr>
              <a:t> Integrating </a:t>
            </a:r>
            <a:r>
              <a:rPr b="1" lang="en-US" sz="1600">
                <a:solidFill>
                  <a:schemeClr val="dk1"/>
                </a:solidFill>
              </a:rPr>
              <a:t>Trim Levels</a:t>
            </a:r>
            <a:r>
              <a:rPr lang="en-US" sz="1600">
                <a:solidFill>
                  <a:schemeClr val="dk1"/>
                </a:solidFill>
              </a:rPr>
              <a:t> and </a:t>
            </a:r>
            <a:r>
              <a:rPr b="1" lang="en-US" sz="1600">
                <a:solidFill>
                  <a:schemeClr val="dk1"/>
                </a:solidFill>
              </a:rPr>
              <a:t>Accident History</a:t>
            </a:r>
            <a:r>
              <a:rPr lang="en-US" sz="1600">
                <a:solidFill>
                  <a:schemeClr val="dk1"/>
                </a:solidFill>
              </a:rPr>
              <a:t> (likely the missing "Signal").</a:t>
            </a:r>
            <a:endParaRPr sz="1600">
              <a:solidFill>
                <a:schemeClr val="dk1"/>
              </a:solidFill>
            </a:endParaRPr>
          </a:p>
          <a:p>
            <a:pPr indent="-330200" lvl="0" marL="457200" rtl="0" algn="l">
              <a:lnSpc>
                <a:spcPct val="200000"/>
              </a:lnSpc>
              <a:spcBef>
                <a:spcPts val="0"/>
              </a:spcBef>
              <a:spcAft>
                <a:spcPts val="0"/>
              </a:spcAft>
              <a:buClr>
                <a:schemeClr val="dk1"/>
              </a:buClr>
              <a:buSzPts val="1600"/>
              <a:buChar char="●"/>
            </a:pPr>
            <a:r>
              <a:rPr b="1" lang="en-US" sz="1600">
                <a:solidFill>
                  <a:schemeClr val="dk1"/>
                </a:solidFill>
              </a:rPr>
              <a:t>NLP Component:</a:t>
            </a:r>
            <a:r>
              <a:rPr lang="en-US" sz="1600">
                <a:solidFill>
                  <a:schemeClr val="dk1"/>
                </a:solidFill>
              </a:rPr>
              <a:t> Scraping dealer descriptions for keywords like "Single Owner" or "New Tires."</a:t>
            </a:r>
            <a:endParaRPr sz="1600">
              <a:solidFill>
                <a:schemeClr val="dk1"/>
              </a:solidFill>
            </a:endParaRPr>
          </a:p>
          <a:p>
            <a:pPr indent="-330200" lvl="0" marL="457200" rtl="0" algn="l">
              <a:lnSpc>
                <a:spcPct val="200000"/>
              </a:lnSpc>
              <a:spcBef>
                <a:spcPts val="0"/>
              </a:spcBef>
              <a:spcAft>
                <a:spcPts val="0"/>
              </a:spcAft>
              <a:buClr>
                <a:schemeClr val="dk1"/>
              </a:buClr>
              <a:buSzPts val="1600"/>
              <a:buChar char="●"/>
            </a:pPr>
            <a:r>
              <a:rPr b="1" lang="en-US" sz="1600">
                <a:solidFill>
                  <a:schemeClr val="dk1"/>
                </a:solidFill>
              </a:rPr>
              <a:t>Geospatial Data:</a:t>
            </a:r>
            <a:r>
              <a:rPr lang="en-US" sz="1600">
                <a:solidFill>
                  <a:schemeClr val="dk1"/>
                </a:solidFill>
              </a:rPr>
              <a:t> Account for regional price variations (e.g., SUVs in snowy regions).</a:t>
            </a:r>
            <a:endParaRPr sz="1600">
              <a:solidFill>
                <a:schemeClr val="dk1"/>
              </a:solidFill>
            </a:endParaRPr>
          </a:p>
          <a:p>
            <a:pPr indent="0" lvl="0" marL="0" marR="0" rtl="0" algn="l">
              <a:lnSpc>
                <a:spcPct val="200000"/>
              </a:lnSpc>
              <a:spcBef>
                <a:spcPts val="1200"/>
              </a:spcBef>
              <a:spcAft>
                <a:spcPts val="0"/>
              </a:spcAft>
              <a:buClr>
                <a:srgbClr val="000000"/>
              </a:buClr>
              <a:buSzPts val="1800"/>
              <a:buFont typeface="Arial"/>
              <a:buNone/>
            </a:pPr>
            <a:r>
              <a:t/>
            </a:r>
            <a:endParaRPr sz="1800">
              <a:solidFill>
                <a:schemeClr val="dk1"/>
              </a:solidFill>
              <a:latin typeface="Century Gothic"/>
              <a:ea typeface="Century Gothic"/>
              <a:cs typeface="Century Gothic"/>
              <a:sym typeface="Century Gothic"/>
            </a:endParaRPr>
          </a:p>
          <a:p>
            <a:pPr indent="457200" lvl="0" marL="0" marR="0" rtl="0" algn="l">
              <a:lnSpc>
                <a:spcPct val="200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9b1e0db14a_0_46"/>
          <p:cNvSpPr txBox="1"/>
          <p:nvPr>
            <p:ph type="title"/>
          </p:nvPr>
        </p:nvSpPr>
        <p:spPr>
          <a:xfrm>
            <a:off x="699375" y="536981"/>
            <a:ext cx="4987500" cy="1156200"/>
          </a:xfrm>
          <a:prstGeom prst="rect">
            <a:avLst/>
          </a:prstGeom>
          <a:noFill/>
          <a:ln>
            <a:noFill/>
          </a:ln>
        </p:spPr>
        <p:txBody>
          <a:bodyPr anchorCtr="0" anchor="t" bIns="45700" lIns="0" spcFirstLastPara="1" rIns="91425" wrap="square" tIns="45700">
            <a:noAutofit/>
          </a:bodyPr>
          <a:lstStyle/>
          <a:p>
            <a:pPr indent="0" lvl="0" marL="0" rtl="0" algn="l">
              <a:lnSpc>
                <a:spcPct val="90000"/>
              </a:lnSpc>
              <a:spcBef>
                <a:spcPts val="0"/>
              </a:spcBef>
              <a:spcAft>
                <a:spcPts val="0"/>
              </a:spcAft>
              <a:buSzPts val="3200"/>
              <a:buNone/>
            </a:pPr>
            <a:r>
              <a:rPr lang="en-US"/>
              <a:t>Conclusion</a:t>
            </a:r>
            <a:endParaRPr/>
          </a:p>
        </p:txBody>
      </p:sp>
      <p:sp>
        <p:nvSpPr>
          <p:cNvPr id="243" name="Google Shape;243;g39b1e0db14a_0_46"/>
          <p:cNvSpPr txBox="1"/>
          <p:nvPr>
            <p:ph idx="12" type="sldNum"/>
          </p:nvPr>
        </p:nvSpPr>
        <p:spPr>
          <a:xfrm>
            <a:off x="11142921" y="155448"/>
            <a:ext cx="348000" cy="471600"/>
          </a:xfrm>
          <a:prstGeom prst="rect">
            <a:avLst/>
          </a:prstGeom>
          <a:noFill/>
          <a:ln>
            <a:noFill/>
          </a:ln>
        </p:spPr>
        <p:txBody>
          <a:bodyPr anchorCtr="0" anchor="b" bIns="45700" lIns="0" spcFirstLastPara="1" rIns="0"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44" name="Google Shape;244;g39b1e0db14a_0_46"/>
          <p:cNvSpPr txBox="1"/>
          <p:nvPr>
            <p:ph idx="1" type="body"/>
          </p:nvPr>
        </p:nvSpPr>
        <p:spPr>
          <a:xfrm>
            <a:off x="757400" y="1456800"/>
            <a:ext cx="10733400" cy="4364100"/>
          </a:xfrm>
          <a:prstGeom prst="rect">
            <a:avLst/>
          </a:prstGeom>
          <a:noFill/>
          <a:ln>
            <a:noFill/>
          </a:ln>
        </p:spPr>
        <p:txBody>
          <a:bodyPr anchorCtr="0" anchor="t" bIns="45700" lIns="91425" spcFirstLastPara="1" rIns="91425" wrap="square" tIns="45700">
            <a:normAutofit/>
          </a:bodyPr>
          <a:lstStyle/>
          <a:p>
            <a:pPr indent="0" lvl="0" marL="0" rtl="0" algn="l">
              <a:lnSpc>
                <a:spcPct val="200000"/>
              </a:lnSpc>
              <a:spcBef>
                <a:spcPts val="1200"/>
              </a:spcBef>
              <a:spcAft>
                <a:spcPts val="0"/>
              </a:spcAft>
              <a:buClr>
                <a:schemeClr val="dk1"/>
              </a:buClr>
              <a:buSzPts val="1100"/>
              <a:buFont typeface="Arial"/>
              <a:buNone/>
            </a:pPr>
            <a:r>
              <a:rPr lang="en-US" sz="1600">
                <a:latin typeface="Arial"/>
                <a:ea typeface="Arial"/>
                <a:cs typeface="Arial"/>
                <a:sym typeface="Arial"/>
              </a:rPr>
              <a:t>While the dataset proved "noisy," we successfully built the </a:t>
            </a:r>
            <a:r>
              <a:rPr b="1" lang="en-US" sz="1600">
                <a:latin typeface="Arial"/>
                <a:ea typeface="Arial"/>
                <a:cs typeface="Arial"/>
                <a:sym typeface="Arial"/>
              </a:rPr>
              <a:t>architectural plumbing</a:t>
            </a:r>
            <a:r>
              <a:rPr lang="en-US" sz="1600">
                <a:latin typeface="Arial"/>
                <a:ea typeface="Arial"/>
                <a:cs typeface="Arial"/>
                <a:sym typeface="Arial"/>
              </a:rPr>
              <a:t> for a state-of-the-art recommendation system. By focusing on </a:t>
            </a:r>
            <a:r>
              <a:rPr b="1" lang="en-US" sz="1600">
                <a:latin typeface="Arial"/>
                <a:ea typeface="Arial"/>
                <a:cs typeface="Arial"/>
                <a:sym typeface="Arial"/>
              </a:rPr>
              <a:t>Latent Similarity</a:t>
            </a:r>
            <a:r>
              <a:rPr lang="en-US" sz="1600">
                <a:latin typeface="Arial"/>
                <a:ea typeface="Arial"/>
                <a:cs typeface="Arial"/>
                <a:sym typeface="Arial"/>
              </a:rPr>
              <a:t> rather than just raw prediction, we created a tool that adds value even in volatile market conditions.</a:t>
            </a:r>
            <a:endParaRPr sz="2500"/>
          </a:p>
          <a:p>
            <a:pPr indent="0" lvl="0" marL="0" rtl="0" algn="l">
              <a:lnSpc>
                <a:spcPct val="100000"/>
              </a:lnSpc>
              <a:spcBef>
                <a:spcPts val="1200"/>
              </a:spcBef>
              <a:spcAft>
                <a:spcPts val="1200"/>
              </a:spcAft>
              <a:buSzPts val="2162"/>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rlin">
  <a:themeElements>
    <a:clrScheme name="TM11161285">
      <a:dk1>
        <a:srgbClr val="000000"/>
      </a:dk1>
      <a:lt1>
        <a:srgbClr val="FFFFFF"/>
      </a:lt1>
      <a:dk2>
        <a:srgbClr val="445469"/>
      </a:dk2>
      <a:lt2>
        <a:srgbClr val="E7E6E6"/>
      </a:lt2>
      <a:accent1>
        <a:srgbClr val="F0829B"/>
      </a:accent1>
      <a:accent2>
        <a:srgbClr val="F83249"/>
      </a:accent2>
      <a:accent3>
        <a:srgbClr val="F6BF0E"/>
      </a:accent3>
      <a:accent4>
        <a:srgbClr val="F3EEF2"/>
      </a:accent4>
      <a:accent5>
        <a:srgbClr val="2C46FB"/>
      </a:accent5>
      <a:accent6>
        <a:srgbClr val="FE9201"/>
      </a:accent6>
      <a:hlink>
        <a:srgbClr val="FFD5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2024-01-29T10:10:21Z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